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DNN</c:v>
                </c:pt>
              </c:strCache>
            </c:strRef>
          </c:tx>
          <c:spPr>
            <a:solidFill>
              <a:srgbClr val="D9822B"/>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000000"/>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Seed 1</c:v>
                </c:pt>
                <c:pt idx="1">
                  <c:v>Seed 2</c:v>
                </c:pt>
                <c:pt idx="2">
                  <c:v>Seed 3</c:v>
                </c:pt>
                <c:pt idx="3">
                  <c:v>Seed 4</c:v>
                </c:pt>
                <c:pt idx="4">
                  <c:v>Seed 5</c:v>
                </c:pt>
                <c:pt idx="5">
                  <c:v>Seed 6</c:v>
                </c:pt>
              </c:strCache>
            </c:strRef>
          </c:cat>
          <c:val>
            <c:numRef>
              <c:f>Sheet1!$B$2:$B$7</c:f>
              <c:numCache>
                <c:formatCode>General</c:formatCode>
                <c:ptCount val="6"/>
                <c:pt idx="0">
                  <c:v>7.77</c:v>
                </c:pt>
                <c:pt idx="1">
                  <c:v>14.57</c:v>
                </c:pt>
                <c:pt idx="2">
                  <c:v>7.09</c:v>
                </c:pt>
                <c:pt idx="3">
                  <c:v>12.85</c:v>
                </c:pt>
                <c:pt idx="4">
                  <c:v>39.52</c:v>
                </c:pt>
                <c:pt idx="5">
                  <c:v>12.77</c:v>
                </c:pt>
              </c:numCache>
            </c:numRef>
          </c:val>
        </c:ser>
        <c:ser>
          <c:idx val="1"/>
          <c:order val="1"/>
          <c:tx>
            <c:strRef>
              <c:f>Sheet1!$C$1</c:f>
              <c:strCache>
                <c:ptCount val="1"/>
                <c:pt idx="0">
                  <c:v>PI-DNN</c:v>
                </c:pt>
              </c:strCache>
            </c:strRef>
          </c:tx>
          <c:spPr>
            <a:solidFill>
              <a:srgbClr val="0E7C7B"/>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000000"/>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Seed 1</c:v>
                </c:pt>
                <c:pt idx="1">
                  <c:v>Seed 2</c:v>
                </c:pt>
                <c:pt idx="2">
                  <c:v>Seed 3</c:v>
                </c:pt>
                <c:pt idx="3">
                  <c:v>Seed 4</c:v>
                </c:pt>
                <c:pt idx="4">
                  <c:v>Seed 5</c:v>
                </c:pt>
                <c:pt idx="5">
                  <c:v>Seed 6</c:v>
                </c:pt>
              </c:strCache>
            </c:strRef>
          </c:cat>
          <c:val>
            <c:numRef>
              <c:f>Sheet1!$C$2:$C$7</c:f>
              <c:numCache>
                <c:formatCode>General</c:formatCode>
                <c:ptCount val="6"/>
                <c:pt idx="0">
                  <c:v>0.87</c:v>
                </c:pt>
                <c:pt idx="1">
                  <c:v>0.77</c:v>
                </c:pt>
                <c:pt idx="2">
                  <c:v>0.62</c:v>
                </c:pt>
                <c:pt idx="3">
                  <c:v>0.8</c:v>
                </c:pt>
                <c:pt idx="4">
                  <c:v>0.96</c:v>
                </c:pt>
                <c:pt idx="5">
                  <c:v>0.8</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000000"/>
                </a:solidFill>
                <a:latin typeface="Calibri" panose="020F0502020204030204"/>
                <a:ea typeface="+mn-ea"/>
                <a:cs typeface="+mn-cs"/>
              </a:defRPr>
            </a:pPr>
          </a:p>
        </c:txPr>
        <c:crossAx val="2094734552"/>
        <c:crosses val="autoZero"/>
        <c:auto val="1"/>
        <c:lblAlgn val="ctr"/>
        <c:lblOffset val="100"/>
        <c:noMultiLvlLbl val="1"/>
      </c:catAx>
      <c:valAx>
        <c:axId val="2094734552"/>
        <c:scaling>
          <c:orientation val="minMax"/>
          <c:max val="45"/>
        </c:scaling>
        <c:delete val="0"/>
        <c:axPos val="l"/>
        <c:majorGridlines>
          <c:spPr>
            <a:ln w="6350" cap="flat" cmpd="sng" algn="ctr">
              <a:solidFill>
                <a:srgbClr val="E5E7EB"/>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000000"/>
                </a:solidFill>
                <a:latin typeface="Calibri" panose="020F050202020403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100" b="0" i="0" u="none" strike="noStrike" kern="1200" baseline="0">
              <a:solidFill>
                <a:schemeClr val="tx1"/>
              </a:solidFill>
              <a:latin typeface="Calibri" panose="020F0502020204030204"/>
              <a:ea typeface="+mn-ea"/>
              <a:cs typeface="Calibri" panose="020F0502020204030204"/>
            </a:defRPr>
          </a:pPr>
        </a:p>
      </c:txPr>
    </c:legend>
    <c:plotVisOnly val="1"/>
    <c:dispBlanksAs val="span"/>
    <c:showDLblsOverMax val="0"/>
    <c:extLst>
      <c:ext uri="{0b15fc19-7d7d-44ad-8c2d-2c3a37ce22c3}">
        <chartProps xmlns="https://web.wps.cn/et/2018/main" chartId="{93812ab1-c00a-4bfc-8f50-939f1d295b71}"/>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PI-DNN</c:v>
                </c:pt>
              </c:strCache>
            </c:strRef>
          </c:tx>
          <c:spPr>
            <a:solidFill>
              <a:srgbClr val="0E7C7B"/>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000000"/>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0 (DNN)</c:v>
                </c:pt>
                <c:pt idx="1">
                  <c:v>0.1</c:v>
                </c:pt>
                <c:pt idx="2">
                  <c:v>0.5</c:v>
                </c:pt>
                <c:pt idx="3">
                  <c:v>1</c:v>
                </c:pt>
                <c:pt idx="4">
                  <c:v>2</c:v>
                </c:pt>
                <c:pt idx="5">
                  <c:v>3</c:v>
                </c:pt>
              </c:strCache>
            </c:strRef>
          </c:cat>
          <c:val>
            <c:numRef>
              <c:f>Sheet1!$B$2:$B$7</c:f>
              <c:numCache>
                <c:formatCode>General</c:formatCode>
                <c:ptCount val="6"/>
                <c:pt idx="0">
                  <c:v>9.81</c:v>
                </c:pt>
                <c:pt idx="1">
                  <c:v>1.28</c:v>
                </c:pt>
                <c:pt idx="2">
                  <c:v>0.83</c:v>
                </c:pt>
                <c:pt idx="3">
                  <c:v>0.75</c:v>
                </c:pt>
                <c:pt idx="4">
                  <c:v>0.82</c:v>
                </c:pt>
                <c:pt idx="5">
                  <c:v>0.72</c:v>
                </c:pt>
              </c:numCache>
            </c:numRef>
          </c:val>
        </c:ser>
        <c:dLbls>
          <c:showLegendKey val="0"/>
          <c:showVal val="1"/>
          <c:showCatName val="0"/>
          <c:showSerName val="0"/>
          <c:showPercent val="0"/>
          <c:showBubbleSize val="0"/>
        </c:dLbls>
        <c:gapWidth val="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000000"/>
                </a:solidFill>
                <a:latin typeface="Calibri" panose="020F0502020204030204"/>
                <a:ea typeface="+mn-ea"/>
                <a:cs typeface="+mn-cs"/>
              </a:defRPr>
            </a:pPr>
          </a:p>
        </c:txPr>
        <c:crossAx val="2094734552"/>
        <c:crosses val="autoZero"/>
        <c:auto val="1"/>
        <c:lblAlgn val="ctr"/>
        <c:lblOffset val="100"/>
        <c:noMultiLvlLbl val="1"/>
      </c:catAx>
      <c:valAx>
        <c:axId val="2094734552"/>
        <c:scaling>
          <c:orientation val="minMax"/>
          <c:max val="12"/>
        </c:scaling>
        <c:delete val="0"/>
        <c:axPos val="l"/>
        <c:majorGridlines>
          <c:spPr>
            <a:ln w="6350" cap="flat" cmpd="sng" algn="ctr">
              <a:solidFill>
                <a:srgbClr val="E5E7EB"/>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00" b="0" i="0" u="none" strike="noStrike" kern="1200" baseline="0">
                <a:solidFill>
                  <a:srgbClr val="000000"/>
                </a:solidFill>
                <a:latin typeface="Calibri" panose="020F050202020403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688fb066-fc4a-414a-b4fd-ccce919cff78}"/>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our second progress review. In Review 1 we presented the problem, objectives, architecture, physics model and plan. In this review we show what has been built: a simulated dataset, a conventional DNN and a Physics-Informed DNN, the evaluation results, and an interactive Digital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flow. We generate channel data from a simulator, take only 150 noisy samples from a small labelled region, normalise them, and train two networks side by side with identical starting weights. We then test on points that are far outside the labelled region. The key point is fairness: the only difference between the two models is the physics term in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do not yet have flight-test data, we use a simulator for the air-to-ground channel: free-space path loss plus an excess loss that depends on whether the path is line-of-sight or blocked. The parameters are the standard suburban values from Al-Hourani et al. The important design choice is that the networks only see labelled data in the teal region: altitude up to 150 m, distance up to 800 m, frequency 1.8 to 3 GHz. The test points are drawn from the whole domain, so they test extrapolation.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networks are small multilayer perceptrons: three inputs, two hidden layers of 48 ReLU neurons and one output, the path loss. We use Adam with a learning rate of 0.004 for 1200 epochs. One clarification from Review 1: transmit power is not fed to the network, because path loss does not depend on it. The twin simply subtracts the predicted path loss from the transmit power to get received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extends the loss function we showed in Review 1. L_data is the squared error on the labelled samples. L_physics checks three things on random points that have no labels. First, if the distance grows by a factor s at the same elevation angle, path loss must grow by exactly 20 log s. Second, the same for frequency. Third, predicted loss can never be below free-space loss. Lambda, set to 1, balances the two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Digital Twin itself, captured from our implementation after training both networks. The left panel is the virtual scene: the ground station, the UAV, the dashed labelled-data region and the live link. The right panel is the readout. You can drag the drone, change frequency and transmit power, and switch between the PI-DNN, the plain DNN and the simulator ground truth. Link quality is classified from received power: good above minus 80 dBm, fair down to minus 90, poor below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example from Review 1, now with real numbers. For a drone at 100 m altitude, 500 m away, at 2.4 GHz with 20 dBm transmit power, the PI-DNN predicts 99.0 dB path loss, against 99.2 from the simulator. Received power is minus 79 dBm, which is a Good link. The table shows the what-if question: if we change altitude, the twin answers immediately. At 50 m the link becomes Poor because the elevation angle is small and paths are more often blocked. These values are from our simulated channel, not field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training curves from the default run. Both models start from the same loss and reach a similar data loss, about 2 dB squared. The dashed line is the physics loss for the PI-DNN, which drops from about 10 to under 0.5, showing the network learned to obey the propagation laws. Notice the data loss alone cannot separate the two models; the difference appears when we test on points the networks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headline result. Inside the labelled region both models are accurate, with RMSE of 1.39 dB for the DNN and 1.08 dB for the PI-DNN. On points outside that region, the conventional DNN's RMSE jumps to 7.77 dB and its R-squared falls to 0.63, while the PI-DNN stays at 0.87 dB with R-squared of 0.995. That is roughly nine times lower error. This is the run with default settings; we repeat it with six seeds shortly to show it is not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result seen point by point. On the left, the conventional DNN's predictions scatter widely around the ideal line and overshoot badly for very high path losses. On the right, the PI-DNN's predictions sit almost exactly on the line, even though none of these points were in the training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flight-path view that the twin also shows. As the drone flies outward, both models match the simulator inside the shaded labelled region. Beyond 800 metres, there is no labelled data. The plain DNN drifts below the true curve by about four dB at 1500 metres, while the physics-informed model follows the true curve more closely. The PI-DNN is not perfect; it sits about one dB low around 1500 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this is not a lucky seed, we repeated the experiment with six random seeds. The conventional DNN is very unstable outside its data, with unseen RMSE anywhere from 7 to nearly 40 dB, while the PI-DNN stays between 0.6 and 1.0 dB every time. On the right, we varied the physics weight lambda. Even a small value of 0.1 gives most of the improvement, and values from 0.5 to 3 perform similarly, so the method does not need delicate tuning. The lambda sweep uses three seeds to keep run time reasonable.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be honest about what we have and have not shown. The results are strong, but they are on simulated data, and our physics terms match the free-space part of that simulator. So some of the advantage comes from that agreement. The real test is real measurements, where multipath and terrain add effects our current physics does not capture. That is the main focus of our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the full pipeline, showed that adding physics reduces error on unseen UAV positions from about 15.8 dB to 0.8 dB on average across six seeds, and delivered an interactive Digital Twin. We are clear that this is on simulated data, and validating on real measurements is our next step.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417320"/>
            <a:ext cx="10972800" cy="411480"/>
          </a:xfrm>
          <a:prstGeom prst="rect">
            <a:avLst/>
          </a:prstGeom>
          <a:noFill/>
        </p:spPr>
        <p:txBody>
          <a:bodyPr wrap="square" lIns="0" tIns="0" rIns="0" bIns="0" rtlCol="0" anchor="ctr"/>
          <a:lstStyle/>
          <a:p>
            <a:pPr marL="0" indent="0">
              <a:buNone/>
            </a:pPr>
            <a:r>
              <a:rPr lang="en-US" sz="1500" b="1" kern="0" spc="400" dirty="0">
                <a:solidFill>
                  <a:srgbClr val="888888"/>
                </a:solidFill>
                <a:latin typeface="Calibri" panose="020F0502020204030204" pitchFamily="34" charset="0"/>
                <a:ea typeface="Calibri" panose="020F0502020204030204" pitchFamily="34" charset="-122"/>
                <a:cs typeface="Calibri" panose="020F0502020204030204" pitchFamily="34" charset="-120"/>
              </a:rPr>
              <a:t>PROJECT PROGRESS REVIEW 2</a:t>
            </a:r>
            <a:endParaRPr lang="en-US" sz="1500" dirty="0"/>
          </a:p>
        </p:txBody>
      </p:sp>
      <p:sp>
        <p:nvSpPr>
          <p:cNvPr id="3" name="Text 1"/>
          <p:cNvSpPr/>
          <p:nvPr/>
        </p:nvSpPr>
        <p:spPr>
          <a:xfrm>
            <a:off x="640080" y="1874520"/>
            <a:ext cx="10881360" cy="1371600"/>
          </a:xfrm>
          <a:prstGeom prst="rect">
            <a:avLst/>
          </a:prstGeom>
          <a:noFill/>
        </p:spPr>
        <p:txBody>
          <a:bodyPr wrap="square" lIns="0" tIns="0" rIns="0" bIns="0" rtlCol="0" anchor="t"/>
          <a:lstStyle/>
          <a:p>
            <a:pPr marL="0" indent="0">
              <a:buNone/>
            </a:pPr>
            <a:r>
              <a:rPr lang="en-US" sz="2800" b="1" dirty="0">
                <a:solidFill>
                  <a:srgbClr val="000000"/>
                </a:solidFill>
                <a:latin typeface="Cambria" panose="02040503050406030204" pitchFamily="34" charset="0"/>
                <a:ea typeface="Cambria" panose="02040503050406030204" pitchFamily="34" charset="-122"/>
                <a:cs typeface="Cambria" panose="02040503050406030204" pitchFamily="34" charset="-120"/>
              </a:rPr>
              <a:t>Physics-Informed Deep Neural Network for Digital Twin Modeling of UAV-to-Ground Wireless Channels</a:t>
            </a:r>
            <a:endParaRPr lang="en-US" sz="2800" dirty="0"/>
          </a:p>
        </p:txBody>
      </p:sp>
      <p:sp>
        <p:nvSpPr>
          <p:cNvPr id="4" name="Text 2"/>
          <p:cNvSpPr/>
          <p:nvPr/>
        </p:nvSpPr>
        <p:spPr>
          <a:xfrm>
            <a:off x="640080" y="3291840"/>
            <a:ext cx="10881360" cy="365760"/>
          </a:xfrm>
          <a:prstGeom prst="rect">
            <a:avLst/>
          </a:prstGeom>
          <a:noFill/>
        </p:spPr>
        <p:txBody>
          <a:bodyPr wrap="square" lIns="0" tIns="0" rIns="0" bIns="0" rtlCol="0" anchor="ctr"/>
          <a:lstStyle/>
          <a:p>
            <a:pPr marL="0" indent="0">
              <a:buNone/>
            </a:pPr>
            <a:r>
              <a:rPr lang="en-US" sz="1800" b="1" dirty="0">
                <a:solidFill>
                  <a:srgbClr val="0E7C7B"/>
                </a:solidFill>
                <a:latin typeface="Calibri" panose="020F0502020204030204" pitchFamily="34" charset="0"/>
                <a:ea typeface="Calibri" panose="020F0502020204030204" pitchFamily="34" charset="-122"/>
                <a:cs typeface="Calibri" panose="020F0502020204030204" pitchFamily="34" charset="-120"/>
              </a:rPr>
              <a:t>Implementation, Digital Twin &amp; Results</a:t>
            </a:r>
            <a:endParaRPr lang="en-US" sz="1800" dirty="0"/>
          </a:p>
        </p:txBody>
      </p:sp>
      <p:sp>
        <p:nvSpPr>
          <p:cNvPr id="5" name="Text 3"/>
          <p:cNvSpPr/>
          <p:nvPr/>
        </p:nvSpPr>
        <p:spPr>
          <a:xfrm>
            <a:off x="640080" y="3703320"/>
            <a:ext cx="10881360" cy="320040"/>
          </a:xfrm>
          <a:prstGeom prst="rect">
            <a:avLst/>
          </a:prstGeom>
          <a:noFill/>
        </p:spPr>
        <p:txBody>
          <a:bodyPr wrap="square" lIns="0" tIns="0" rIns="0" bIns="0" rtlCol="0" anchor="ctr"/>
          <a:lstStyle/>
          <a:p>
            <a:pPr marL="0" indent="0">
              <a:buNone/>
            </a:pPr>
            <a:r>
              <a:rPr lang="en-US" sz="1400" dirty="0">
                <a:solidFill>
                  <a:srgbClr val="888888"/>
                </a:solidFill>
                <a:latin typeface="Calibri" panose="020F0502020204030204" pitchFamily="34" charset="0"/>
                <a:ea typeface="Calibri" panose="020F0502020204030204" pitchFamily="34" charset="-122"/>
                <a:cs typeface="Calibri" panose="020F0502020204030204" pitchFamily="34" charset="-120"/>
              </a:rPr>
              <a:t>Wireless Communications  ·  Deep Learning  ·  Digital Twins</a:t>
            </a:r>
            <a:endParaRPr lang="en-US" sz="1400" dirty="0"/>
          </a:p>
        </p:txBody>
      </p:sp>
      <p:sp>
        <p:nvSpPr>
          <p:cNvPr id="6" name="Text 4"/>
          <p:cNvSpPr/>
          <p:nvPr/>
        </p:nvSpPr>
        <p:spPr>
          <a:xfrm>
            <a:off x="640080" y="4251960"/>
            <a:ext cx="10881360" cy="1737360"/>
          </a:xfrm>
          <a:prstGeom prst="rect">
            <a:avLst/>
          </a:prstGeom>
          <a:noFill/>
        </p:spPr>
        <p:txBody>
          <a:bodyPr wrap="square" lIns="0" tIns="0" rIns="0" bIns="0" rtlCol="0" anchor="t"/>
          <a:lstStyle/>
          <a:p>
            <a:pPr marL="0" indent="0">
              <a:lnSpc>
                <a:spcPct val="115000"/>
              </a:lnSpc>
              <a:buNone/>
            </a:pPr>
            <a:r>
              <a:rPr lang="en-US" sz="1400" b="1" dirty="0">
                <a:solidFill>
                  <a:srgbClr val="000000"/>
                </a:solidFill>
                <a:latin typeface="Calibri" panose="020F0502020204030204" pitchFamily="34" charset="0"/>
                <a:ea typeface="Calibri" panose="020F0502020204030204" pitchFamily="34" charset="-122"/>
                <a:cs typeface="Calibri" panose="020F0502020204030204" pitchFamily="34" charset="-120"/>
              </a:rPr>
              <a:t>Team Members</a:t>
            </a:r>
            <a:endParaRPr lang="en-US" sz="1400" dirty="0"/>
          </a:p>
          <a:p>
            <a:pPr marL="0" indent="0">
              <a:lnSpc>
                <a:spcPct val="115000"/>
              </a:lnSpc>
              <a:buNone/>
            </a:pPr>
            <a:r>
              <a:rPr lang="en-US" sz="1400" dirty="0">
                <a:solidFill>
                  <a:srgbClr val="444444"/>
                </a:solidFill>
                <a:latin typeface="Calibri" panose="020F0502020204030204" pitchFamily="34" charset="0"/>
                <a:ea typeface="Calibri" panose="020F0502020204030204" pitchFamily="34" charset="-122"/>
                <a:cs typeface="Calibri" panose="020F0502020204030204" pitchFamily="34" charset="-120"/>
              </a:rPr>
              <a:t>S. Harshitha — 2520040017</a:t>
            </a:r>
            <a:endParaRPr lang="en-US" sz="1400" dirty="0"/>
          </a:p>
          <a:p>
            <a:pPr marL="0" indent="0">
              <a:lnSpc>
                <a:spcPct val="115000"/>
              </a:lnSpc>
              <a:buNone/>
            </a:pPr>
            <a:r>
              <a:rPr lang="en-US" sz="1400" dirty="0">
                <a:solidFill>
                  <a:srgbClr val="444444"/>
                </a:solidFill>
                <a:latin typeface="Calibri" panose="020F0502020204030204" pitchFamily="34" charset="0"/>
                <a:ea typeface="Calibri" panose="020F0502020204030204" pitchFamily="34" charset="-122"/>
                <a:cs typeface="Calibri" panose="020F0502020204030204" pitchFamily="34" charset="-120"/>
              </a:rPr>
              <a:t>P. Srinidhi — 2520040016</a:t>
            </a:r>
            <a:endParaRPr lang="en-US" sz="1400" dirty="0"/>
          </a:p>
          <a:p>
            <a:pPr marL="0" indent="0">
              <a:lnSpc>
                <a:spcPct val="115000"/>
              </a:lnSpc>
              <a:buNone/>
            </a:pPr>
            <a:r>
              <a:rPr lang="en-US" sz="1400" dirty="0">
                <a:solidFill>
                  <a:srgbClr val="000000"/>
                </a:solidFill>
                <a:latin typeface="Calibri" panose="020F0502020204030204" pitchFamily="34" charset="0"/>
                <a:ea typeface="Calibri" panose="020F0502020204030204" pitchFamily="34" charset="-122"/>
                <a:cs typeface="Calibri" panose="020F0502020204030204" pitchFamily="34" charset="-120"/>
              </a:rPr>
              <a:t> </a:t>
            </a:r>
            <a:endParaRPr lang="en-US" sz="1400" dirty="0"/>
          </a:p>
          <a:p>
            <a:pPr marL="0" indent="0">
              <a:lnSpc>
                <a:spcPct val="115000"/>
              </a:lnSpc>
              <a:buNone/>
            </a:pPr>
            <a:r>
              <a:rPr lang="en-US" sz="1400" b="1" dirty="0">
                <a:solidFill>
                  <a:srgbClr val="000000"/>
                </a:solidFill>
                <a:latin typeface="Calibri" panose="020F0502020204030204" pitchFamily="34" charset="0"/>
                <a:ea typeface="Calibri" panose="020F0502020204030204" pitchFamily="34" charset="-122"/>
                <a:cs typeface="Calibri" panose="020F0502020204030204" pitchFamily="34" charset="-120"/>
              </a:rPr>
              <a:t>Guide:  </a:t>
            </a:r>
            <a:r>
              <a:rPr lang="en-US" sz="1400" dirty="0">
                <a:solidFill>
                  <a:srgbClr val="444444"/>
                </a:solidFill>
                <a:latin typeface="Calibri" panose="020F0502020204030204" pitchFamily="34" charset="0"/>
                <a:ea typeface="Calibri" panose="020F0502020204030204" pitchFamily="34" charset="-122"/>
                <a:cs typeface="Calibri" panose="020F0502020204030204" pitchFamily="34" charset="-120"/>
              </a:rPr>
              <a:t>Mr. N. Lava Prasad, Assistant Professor</a:t>
            </a:r>
            <a:endParaRPr lang="en-US" sz="1400" dirty="0"/>
          </a:p>
          <a:p>
            <a:pPr marL="0" indent="0">
              <a:lnSpc>
                <a:spcPct val="115000"/>
              </a:lnSpc>
              <a:buNone/>
            </a:pPr>
            <a:r>
              <a:rPr lang="en-US" sz="1400" b="1" dirty="0">
                <a:solidFill>
                  <a:srgbClr val="000000"/>
                </a:solidFill>
                <a:latin typeface="Calibri" panose="020F0502020204030204" pitchFamily="34" charset="0"/>
                <a:ea typeface="Calibri" panose="020F0502020204030204" pitchFamily="34" charset="-122"/>
                <a:cs typeface="Calibri" panose="020F0502020204030204" pitchFamily="34" charset="-120"/>
              </a:rPr>
              <a:t>Department:  </a:t>
            </a:r>
            <a:r>
              <a:rPr lang="en-US" sz="1400" dirty="0">
                <a:solidFill>
                  <a:srgbClr val="444444"/>
                </a:solidFill>
                <a:latin typeface="Calibri" panose="020F0502020204030204" pitchFamily="34" charset="0"/>
                <a:ea typeface="Calibri" panose="020F0502020204030204" pitchFamily="34" charset="-122"/>
                <a:cs typeface="Calibri" panose="020F0502020204030204" pitchFamily="34" charset="-120"/>
              </a:rPr>
              <a:t>ECE, KL University, Hyderabad</a:t>
            </a:r>
            <a:endParaRPr lang="en-US" sz="1400" dirty="0"/>
          </a:p>
        </p:txBody>
      </p:sp>
      <p:sp>
        <p:nvSpPr>
          <p:cNvPr id="7" name="Text 5"/>
          <p:cNvSpPr/>
          <p:nvPr/>
        </p:nvSpPr>
        <p:spPr>
          <a:xfrm>
            <a:off x="640080" y="6309360"/>
            <a:ext cx="7315200" cy="365760"/>
          </a:xfrm>
          <a:prstGeom prst="rect">
            <a:avLst/>
          </a:prstGeom>
          <a:noFill/>
        </p:spPr>
        <p:txBody>
          <a:bodyPr wrap="square" lIns="0" tIns="0" rIns="0" bIns="0" rtlCol="0" anchor="ctr"/>
          <a:lstStyle/>
          <a:p>
            <a:pPr marL="0" indent="0">
              <a:buNone/>
            </a:pPr>
            <a:r>
              <a:rPr lang="en-US" sz="1100" dirty="0">
                <a:solidFill>
                  <a:srgbClr val="888888"/>
                </a:solidFill>
                <a:latin typeface="Calibri" panose="020F0502020204030204" pitchFamily="34" charset="0"/>
                <a:ea typeface="Calibri" panose="020F0502020204030204" pitchFamily="34" charset="-122"/>
                <a:cs typeface="Calibri" panose="020F0502020204030204" pitchFamily="34" charset="-120"/>
              </a:rPr>
              <a:t>Academic Year 2026–27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Implementation Pipeline</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From a simulated channel to an interactive Digital Twin</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
        <p:nvSpPr>
          <p:cNvPr id="6" name="Shape 4"/>
          <p:cNvSpPr/>
          <p:nvPr/>
        </p:nvSpPr>
        <p:spPr>
          <a:xfrm>
            <a:off x="640080" y="1783080"/>
            <a:ext cx="1600200" cy="2148840"/>
          </a:xfrm>
          <a:prstGeom prst="roundRect">
            <a:avLst>
              <a:gd name="adj" fmla="val 4571"/>
            </a:avLst>
          </a:prstGeom>
          <a:solidFill>
            <a:srgbClr val="FFFFFF"/>
          </a:solidFill>
          <a:ln w="12700">
            <a:solidFill>
              <a:srgbClr val="D0D4D9"/>
            </a:solidFill>
            <a:prstDash val="solid"/>
          </a:ln>
        </p:spPr>
      </p:sp>
      <p:sp>
        <p:nvSpPr>
          <p:cNvPr id="7" name="Shape 5"/>
          <p:cNvSpPr/>
          <p:nvPr/>
        </p:nvSpPr>
        <p:spPr>
          <a:xfrm>
            <a:off x="777240" y="1929384"/>
            <a:ext cx="384048" cy="384048"/>
          </a:xfrm>
          <a:prstGeom prst="ellipse">
            <a:avLst/>
          </a:prstGeom>
          <a:solidFill>
            <a:srgbClr val="000000"/>
          </a:solidFill>
        </p:spPr>
      </p:sp>
      <p:sp>
        <p:nvSpPr>
          <p:cNvPr id="8" name="Text 6"/>
          <p:cNvSpPr/>
          <p:nvPr/>
        </p:nvSpPr>
        <p:spPr>
          <a:xfrm>
            <a:off x="777240" y="1929384"/>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9" name="Text 7"/>
          <p:cNvSpPr/>
          <p:nvPr/>
        </p:nvSpPr>
        <p:spPr>
          <a:xfrm>
            <a:off x="777240" y="2441448"/>
            <a:ext cx="1325880" cy="548640"/>
          </a:xfrm>
          <a:prstGeom prst="rect">
            <a:avLst/>
          </a:prstGeom>
          <a:noFill/>
        </p:spPr>
        <p:txBody>
          <a:bodyPr wrap="square" lIns="0" tIns="0" rIns="0" bIns="0" rtlCol="0" anchor="t"/>
          <a:lstStyle/>
          <a:p>
            <a:pPr marL="0" indent="0">
              <a:buNone/>
            </a:pPr>
            <a:r>
              <a:rPr lang="en-US" sz="1500" b="1" dirty="0">
                <a:solidFill>
                  <a:srgbClr val="000000"/>
                </a:solidFill>
                <a:latin typeface="Cambria" panose="02040503050406030204" pitchFamily="34" charset="0"/>
                <a:ea typeface="Cambria" panose="02040503050406030204" pitchFamily="34" charset="-122"/>
                <a:cs typeface="Cambria" panose="02040503050406030204" pitchFamily="34" charset="-120"/>
              </a:rPr>
              <a:t>Channel simulator</a:t>
            </a:r>
            <a:endParaRPr lang="en-US" sz="1500" dirty="0"/>
          </a:p>
        </p:txBody>
      </p:sp>
      <p:sp>
        <p:nvSpPr>
          <p:cNvPr id="10" name="Text 8"/>
          <p:cNvSpPr/>
          <p:nvPr/>
        </p:nvSpPr>
        <p:spPr>
          <a:xfrm>
            <a:off x="777240" y="3017520"/>
            <a:ext cx="1325880" cy="868680"/>
          </a:xfrm>
          <a:prstGeom prst="rect">
            <a:avLst/>
          </a:prstGeom>
          <a:noFill/>
        </p:spPr>
        <p:txBody>
          <a:bodyPr wrap="square" lIns="0" tIns="0" rIns="0" bIns="0" rtlCol="0" anchor="t"/>
          <a:lstStyle/>
          <a:p>
            <a:pPr marL="0" indent="0">
              <a:buNone/>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FSPL + LoS / NLoS excess loss + 2 dB shadowing</a:t>
            </a:r>
            <a:endParaRPr lang="en-US" sz="1250" dirty="0"/>
          </a:p>
        </p:txBody>
      </p:sp>
      <p:sp>
        <p:nvSpPr>
          <p:cNvPr id="11" name="Shape 9"/>
          <p:cNvSpPr/>
          <p:nvPr/>
        </p:nvSpPr>
        <p:spPr>
          <a:xfrm>
            <a:off x="2258568" y="2857500"/>
            <a:ext cx="219456" cy="0"/>
          </a:xfrm>
          <a:prstGeom prst="line">
            <a:avLst/>
          </a:prstGeom>
          <a:noFill/>
          <a:ln w="19050">
            <a:solidFill>
              <a:srgbClr val="888888"/>
            </a:solidFill>
            <a:prstDash val="solid"/>
            <a:tailEnd type="triangle"/>
          </a:ln>
        </p:spPr>
      </p:sp>
      <p:sp>
        <p:nvSpPr>
          <p:cNvPr id="12" name="Shape 10"/>
          <p:cNvSpPr/>
          <p:nvPr/>
        </p:nvSpPr>
        <p:spPr>
          <a:xfrm>
            <a:off x="2496312" y="1783080"/>
            <a:ext cx="1600200" cy="2148840"/>
          </a:xfrm>
          <a:prstGeom prst="roundRect">
            <a:avLst>
              <a:gd name="adj" fmla="val 4571"/>
            </a:avLst>
          </a:prstGeom>
          <a:solidFill>
            <a:srgbClr val="FFFFFF"/>
          </a:solidFill>
          <a:ln w="12700">
            <a:solidFill>
              <a:srgbClr val="D0D4D9"/>
            </a:solidFill>
            <a:prstDash val="solid"/>
          </a:ln>
        </p:spPr>
      </p:sp>
      <p:sp>
        <p:nvSpPr>
          <p:cNvPr id="13" name="Shape 11"/>
          <p:cNvSpPr/>
          <p:nvPr/>
        </p:nvSpPr>
        <p:spPr>
          <a:xfrm>
            <a:off x="2633472" y="1929384"/>
            <a:ext cx="384048" cy="384048"/>
          </a:xfrm>
          <a:prstGeom prst="ellipse">
            <a:avLst/>
          </a:prstGeom>
          <a:solidFill>
            <a:srgbClr val="000000"/>
          </a:solidFill>
        </p:spPr>
      </p:sp>
      <p:sp>
        <p:nvSpPr>
          <p:cNvPr id="14" name="Text 12"/>
          <p:cNvSpPr/>
          <p:nvPr/>
        </p:nvSpPr>
        <p:spPr>
          <a:xfrm>
            <a:off x="2633472" y="1929384"/>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5" name="Text 13"/>
          <p:cNvSpPr/>
          <p:nvPr/>
        </p:nvSpPr>
        <p:spPr>
          <a:xfrm>
            <a:off x="2633472" y="2441448"/>
            <a:ext cx="1325880" cy="548640"/>
          </a:xfrm>
          <a:prstGeom prst="rect">
            <a:avLst/>
          </a:prstGeom>
          <a:noFill/>
        </p:spPr>
        <p:txBody>
          <a:bodyPr wrap="square" lIns="0" tIns="0" rIns="0" bIns="0" rtlCol="0" anchor="t"/>
          <a:lstStyle/>
          <a:p>
            <a:pPr marL="0" indent="0">
              <a:buNone/>
            </a:pPr>
            <a:r>
              <a:rPr lang="en-US" sz="1500" b="1" dirty="0">
                <a:solidFill>
                  <a:srgbClr val="000000"/>
                </a:solidFill>
                <a:latin typeface="Cambria" panose="02040503050406030204" pitchFamily="34" charset="0"/>
                <a:ea typeface="Cambria" panose="02040503050406030204" pitchFamily="34" charset="-122"/>
                <a:cs typeface="Cambria" panose="02040503050406030204" pitchFamily="34" charset="-120"/>
              </a:rPr>
              <a:t>Labelled samples</a:t>
            </a:r>
            <a:endParaRPr lang="en-US" sz="1500" dirty="0"/>
          </a:p>
        </p:txBody>
      </p:sp>
      <p:sp>
        <p:nvSpPr>
          <p:cNvPr id="16" name="Text 14"/>
          <p:cNvSpPr/>
          <p:nvPr/>
        </p:nvSpPr>
        <p:spPr>
          <a:xfrm>
            <a:off x="2633472" y="3017520"/>
            <a:ext cx="1325880" cy="868680"/>
          </a:xfrm>
          <a:prstGeom prst="rect">
            <a:avLst/>
          </a:prstGeom>
          <a:noFill/>
        </p:spPr>
        <p:txBody>
          <a:bodyPr wrap="square" lIns="0" tIns="0" rIns="0" bIns="0" rtlCol="0" anchor="t"/>
          <a:lstStyle/>
          <a:p>
            <a:pPr marL="0" indent="0">
              <a:buNone/>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150 noisy points from the labelled region only</a:t>
            </a:r>
            <a:endParaRPr lang="en-US" sz="1250" dirty="0"/>
          </a:p>
        </p:txBody>
      </p:sp>
      <p:sp>
        <p:nvSpPr>
          <p:cNvPr id="17" name="Shape 15"/>
          <p:cNvSpPr/>
          <p:nvPr/>
        </p:nvSpPr>
        <p:spPr>
          <a:xfrm>
            <a:off x="4114800" y="2857500"/>
            <a:ext cx="219456" cy="0"/>
          </a:xfrm>
          <a:prstGeom prst="line">
            <a:avLst/>
          </a:prstGeom>
          <a:noFill/>
          <a:ln w="19050">
            <a:solidFill>
              <a:srgbClr val="888888"/>
            </a:solidFill>
            <a:prstDash val="solid"/>
            <a:tailEnd type="triangle"/>
          </a:ln>
        </p:spPr>
      </p:sp>
      <p:sp>
        <p:nvSpPr>
          <p:cNvPr id="18" name="Shape 16"/>
          <p:cNvSpPr/>
          <p:nvPr/>
        </p:nvSpPr>
        <p:spPr>
          <a:xfrm>
            <a:off x="4352544" y="1783080"/>
            <a:ext cx="1600200" cy="2148840"/>
          </a:xfrm>
          <a:prstGeom prst="roundRect">
            <a:avLst>
              <a:gd name="adj" fmla="val 4571"/>
            </a:avLst>
          </a:prstGeom>
          <a:solidFill>
            <a:srgbClr val="FFFFFF"/>
          </a:solidFill>
          <a:ln w="12700">
            <a:solidFill>
              <a:srgbClr val="D0D4D9"/>
            </a:solidFill>
            <a:prstDash val="solid"/>
          </a:ln>
        </p:spPr>
      </p:sp>
      <p:sp>
        <p:nvSpPr>
          <p:cNvPr id="19" name="Shape 17"/>
          <p:cNvSpPr/>
          <p:nvPr/>
        </p:nvSpPr>
        <p:spPr>
          <a:xfrm>
            <a:off x="4489704" y="1929384"/>
            <a:ext cx="384048" cy="384048"/>
          </a:xfrm>
          <a:prstGeom prst="ellipse">
            <a:avLst/>
          </a:prstGeom>
          <a:solidFill>
            <a:srgbClr val="000000"/>
          </a:solidFill>
        </p:spPr>
      </p:sp>
      <p:sp>
        <p:nvSpPr>
          <p:cNvPr id="20" name="Text 18"/>
          <p:cNvSpPr/>
          <p:nvPr/>
        </p:nvSpPr>
        <p:spPr>
          <a:xfrm>
            <a:off x="4489704" y="1929384"/>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21" name="Text 19"/>
          <p:cNvSpPr/>
          <p:nvPr/>
        </p:nvSpPr>
        <p:spPr>
          <a:xfrm>
            <a:off x="4489704" y="2441448"/>
            <a:ext cx="1325880" cy="548640"/>
          </a:xfrm>
          <a:prstGeom prst="rect">
            <a:avLst/>
          </a:prstGeom>
          <a:noFill/>
        </p:spPr>
        <p:txBody>
          <a:bodyPr wrap="square" lIns="0" tIns="0" rIns="0" bIns="0" rtlCol="0" anchor="t"/>
          <a:lstStyle/>
          <a:p>
            <a:pPr marL="0" indent="0">
              <a:buNone/>
            </a:pPr>
            <a:r>
              <a:rPr lang="en-US" sz="1500" b="1" dirty="0">
                <a:solidFill>
                  <a:srgbClr val="000000"/>
                </a:solidFill>
                <a:latin typeface="Cambria" panose="02040503050406030204" pitchFamily="34" charset="0"/>
                <a:ea typeface="Cambria" panose="02040503050406030204" pitchFamily="34" charset="-122"/>
                <a:cs typeface="Cambria" panose="02040503050406030204" pitchFamily="34" charset="-120"/>
              </a:rPr>
              <a:t>Normalise</a:t>
            </a:r>
            <a:endParaRPr lang="en-US" sz="1500" dirty="0"/>
          </a:p>
        </p:txBody>
      </p:sp>
      <p:sp>
        <p:nvSpPr>
          <p:cNvPr id="22" name="Text 20"/>
          <p:cNvSpPr/>
          <p:nvPr/>
        </p:nvSpPr>
        <p:spPr>
          <a:xfrm>
            <a:off x="4489704" y="3017520"/>
            <a:ext cx="1325880" cy="868680"/>
          </a:xfrm>
          <a:prstGeom prst="rect">
            <a:avLst/>
          </a:prstGeom>
          <a:noFill/>
        </p:spPr>
        <p:txBody>
          <a:bodyPr wrap="square" lIns="0" tIns="0" rIns="0" bIns="0" rtlCol="0" anchor="t"/>
          <a:lstStyle/>
          <a:p>
            <a:pPr marL="0" indent="0">
              <a:buNone/>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Inputs scaled to [−1, 1]; path loss as (PL − 100) / 25</a:t>
            </a:r>
            <a:endParaRPr lang="en-US" sz="1250" dirty="0"/>
          </a:p>
        </p:txBody>
      </p:sp>
      <p:sp>
        <p:nvSpPr>
          <p:cNvPr id="23" name="Shape 21"/>
          <p:cNvSpPr/>
          <p:nvPr/>
        </p:nvSpPr>
        <p:spPr>
          <a:xfrm>
            <a:off x="5971032" y="2857500"/>
            <a:ext cx="219456" cy="0"/>
          </a:xfrm>
          <a:prstGeom prst="line">
            <a:avLst/>
          </a:prstGeom>
          <a:noFill/>
          <a:ln w="19050">
            <a:solidFill>
              <a:srgbClr val="888888"/>
            </a:solidFill>
            <a:prstDash val="solid"/>
            <a:tailEnd type="triangle"/>
          </a:ln>
        </p:spPr>
      </p:sp>
      <p:sp>
        <p:nvSpPr>
          <p:cNvPr id="24" name="Shape 22"/>
          <p:cNvSpPr/>
          <p:nvPr/>
        </p:nvSpPr>
        <p:spPr>
          <a:xfrm>
            <a:off x="6208776" y="1783080"/>
            <a:ext cx="1600200" cy="2148840"/>
          </a:xfrm>
          <a:prstGeom prst="roundRect">
            <a:avLst>
              <a:gd name="adj" fmla="val 4571"/>
            </a:avLst>
          </a:prstGeom>
          <a:solidFill>
            <a:srgbClr val="FFFFFF"/>
          </a:solidFill>
          <a:ln w="12700">
            <a:solidFill>
              <a:srgbClr val="D0D4D9"/>
            </a:solidFill>
            <a:prstDash val="solid"/>
          </a:ln>
        </p:spPr>
      </p:sp>
      <p:sp>
        <p:nvSpPr>
          <p:cNvPr id="25" name="Shape 23"/>
          <p:cNvSpPr/>
          <p:nvPr/>
        </p:nvSpPr>
        <p:spPr>
          <a:xfrm>
            <a:off x="6345936" y="1929384"/>
            <a:ext cx="384048" cy="384048"/>
          </a:xfrm>
          <a:prstGeom prst="ellipse">
            <a:avLst/>
          </a:prstGeom>
          <a:solidFill>
            <a:srgbClr val="0E7C7B"/>
          </a:solidFill>
        </p:spPr>
      </p:sp>
      <p:sp>
        <p:nvSpPr>
          <p:cNvPr id="26" name="Text 24"/>
          <p:cNvSpPr/>
          <p:nvPr/>
        </p:nvSpPr>
        <p:spPr>
          <a:xfrm>
            <a:off x="6345936" y="1929384"/>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27" name="Text 25"/>
          <p:cNvSpPr/>
          <p:nvPr/>
        </p:nvSpPr>
        <p:spPr>
          <a:xfrm>
            <a:off x="6345936" y="2441448"/>
            <a:ext cx="1325880" cy="548640"/>
          </a:xfrm>
          <a:prstGeom prst="rect">
            <a:avLst/>
          </a:prstGeom>
          <a:noFill/>
        </p:spPr>
        <p:txBody>
          <a:bodyPr wrap="square" lIns="0" tIns="0" rIns="0" bIns="0" rtlCol="0" anchor="t"/>
          <a:lstStyle/>
          <a:p>
            <a:pPr marL="0" indent="0">
              <a:buNone/>
            </a:pPr>
            <a:r>
              <a:rPr lang="en-US" sz="1500" b="1" dirty="0">
                <a:solidFill>
                  <a:srgbClr val="000000"/>
                </a:solidFill>
                <a:latin typeface="Cambria" panose="02040503050406030204" pitchFamily="34" charset="0"/>
                <a:ea typeface="Cambria" panose="02040503050406030204" pitchFamily="34" charset="-122"/>
                <a:cs typeface="Cambria" panose="02040503050406030204" pitchFamily="34" charset="-120"/>
              </a:rPr>
              <a:t>Train two models</a:t>
            </a:r>
            <a:endParaRPr lang="en-US" sz="1500" dirty="0"/>
          </a:p>
        </p:txBody>
      </p:sp>
      <p:sp>
        <p:nvSpPr>
          <p:cNvPr id="28" name="Text 26"/>
          <p:cNvSpPr/>
          <p:nvPr/>
        </p:nvSpPr>
        <p:spPr>
          <a:xfrm>
            <a:off x="6345936" y="3017520"/>
            <a:ext cx="1325880" cy="868680"/>
          </a:xfrm>
          <a:prstGeom prst="rect">
            <a:avLst/>
          </a:prstGeom>
          <a:noFill/>
        </p:spPr>
        <p:txBody>
          <a:bodyPr wrap="square" lIns="0" tIns="0" rIns="0" bIns="0" rtlCol="0" anchor="t"/>
          <a:lstStyle/>
          <a:p>
            <a:pPr marL="0" indent="0">
              <a:buNone/>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DNN and PI-DNN, identical start, 1200 epochs</a:t>
            </a:r>
            <a:endParaRPr lang="en-US" sz="1250" dirty="0"/>
          </a:p>
        </p:txBody>
      </p:sp>
      <p:sp>
        <p:nvSpPr>
          <p:cNvPr id="29" name="Shape 27"/>
          <p:cNvSpPr/>
          <p:nvPr/>
        </p:nvSpPr>
        <p:spPr>
          <a:xfrm>
            <a:off x="7827264" y="2857500"/>
            <a:ext cx="219456" cy="0"/>
          </a:xfrm>
          <a:prstGeom prst="line">
            <a:avLst/>
          </a:prstGeom>
          <a:noFill/>
          <a:ln w="19050">
            <a:solidFill>
              <a:srgbClr val="888888"/>
            </a:solidFill>
            <a:prstDash val="solid"/>
            <a:tailEnd type="triangle"/>
          </a:ln>
        </p:spPr>
      </p:sp>
      <p:sp>
        <p:nvSpPr>
          <p:cNvPr id="30" name="Shape 28"/>
          <p:cNvSpPr/>
          <p:nvPr/>
        </p:nvSpPr>
        <p:spPr>
          <a:xfrm>
            <a:off x="8065008" y="1783080"/>
            <a:ext cx="1600200" cy="2148840"/>
          </a:xfrm>
          <a:prstGeom prst="roundRect">
            <a:avLst>
              <a:gd name="adj" fmla="val 4571"/>
            </a:avLst>
          </a:prstGeom>
          <a:solidFill>
            <a:srgbClr val="FFFFFF"/>
          </a:solidFill>
          <a:ln w="12700">
            <a:solidFill>
              <a:srgbClr val="D0D4D9"/>
            </a:solidFill>
            <a:prstDash val="solid"/>
          </a:ln>
        </p:spPr>
      </p:sp>
      <p:sp>
        <p:nvSpPr>
          <p:cNvPr id="31" name="Shape 29"/>
          <p:cNvSpPr/>
          <p:nvPr/>
        </p:nvSpPr>
        <p:spPr>
          <a:xfrm>
            <a:off x="8202168" y="1929384"/>
            <a:ext cx="384048" cy="384048"/>
          </a:xfrm>
          <a:prstGeom prst="ellipse">
            <a:avLst/>
          </a:prstGeom>
          <a:solidFill>
            <a:srgbClr val="000000"/>
          </a:solidFill>
        </p:spPr>
      </p:sp>
      <p:sp>
        <p:nvSpPr>
          <p:cNvPr id="32" name="Text 30"/>
          <p:cNvSpPr/>
          <p:nvPr/>
        </p:nvSpPr>
        <p:spPr>
          <a:xfrm>
            <a:off x="8202168" y="1929384"/>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300" dirty="0"/>
          </a:p>
        </p:txBody>
      </p:sp>
      <p:sp>
        <p:nvSpPr>
          <p:cNvPr id="33" name="Text 31"/>
          <p:cNvSpPr/>
          <p:nvPr/>
        </p:nvSpPr>
        <p:spPr>
          <a:xfrm>
            <a:off x="8202168" y="2441448"/>
            <a:ext cx="1325880" cy="548640"/>
          </a:xfrm>
          <a:prstGeom prst="rect">
            <a:avLst/>
          </a:prstGeom>
          <a:noFill/>
        </p:spPr>
        <p:txBody>
          <a:bodyPr wrap="square" lIns="0" tIns="0" rIns="0" bIns="0" rtlCol="0" anchor="t"/>
          <a:lstStyle/>
          <a:p>
            <a:pPr marL="0" indent="0">
              <a:buNone/>
            </a:pPr>
            <a:r>
              <a:rPr lang="en-US" sz="1500" b="1" dirty="0">
                <a:solidFill>
                  <a:srgbClr val="000000"/>
                </a:solidFill>
                <a:latin typeface="Cambria" panose="02040503050406030204" pitchFamily="34" charset="0"/>
                <a:ea typeface="Cambria" panose="02040503050406030204" pitchFamily="34" charset="-122"/>
                <a:cs typeface="Cambria" panose="02040503050406030204" pitchFamily="34" charset="-120"/>
              </a:rPr>
              <a:t>Test</a:t>
            </a:r>
            <a:endParaRPr lang="en-US" sz="1500" dirty="0"/>
          </a:p>
        </p:txBody>
      </p:sp>
      <p:sp>
        <p:nvSpPr>
          <p:cNvPr id="34" name="Text 32"/>
          <p:cNvSpPr/>
          <p:nvPr/>
        </p:nvSpPr>
        <p:spPr>
          <a:xfrm>
            <a:off x="8202168" y="3017520"/>
            <a:ext cx="1325880" cy="868680"/>
          </a:xfrm>
          <a:prstGeom prst="rect">
            <a:avLst/>
          </a:prstGeom>
          <a:noFill/>
        </p:spPr>
        <p:txBody>
          <a:bodyPr wrap="square" lIns="0" tIns="0" rIns="0" bIns="0" rtlCol="0" anchor="t"/>
          <a:lstStyle/>
          <a:p>
            <a:pPr marL="0" indent="0">
              <a:buNone/>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400 labelled-region and 600 unseen points, noise-free</a:t>
            </a:r>
            <a:endParaRPr lang="en-US" sz="1250" dirty="0"/>
          </a:p>
        </p:txBody>
      </p:sp>
      <p:sp>
        <p:nvSpPr>
          <p:cNvPr id="35" name="Shape 33"/>
          <p:cNvSpPr/>
          <p:nvPr/>
        </p:nvSpPr>
        <p:spPr>
          <a:xfrm>
            <a:off x="9683496" y="2857500"/>
            <a:ext cx="219456" cy="0"/>
          </a:xfrm>
          <a:prstGeom prst="line">
            <a:avLst/>
          </a:prstGeom>
          <a:noFill/>
          <a:ln w="19050">
            <a:solidFill>
              <a:srgbClr val="888888"/>
            </a:solidFill>
            <a:prstDash val="solid"/>
            <a:tailEnd type="triangle"/>
          </a:ln>
        </p:spPr>
      </p:sp>
      <p:sp>
        <p:nvSpPr>
          <p:cNvPr id="36" name="Shape 34"/>
          <p:cNvSpPr/>
          <p:nvPr/>
        </p:nvSpPr>
        <p:spPr>
          <a:xfrm>
            <a:off x="9921240" y="1783080"/>
            <a:ext cx="1600200" cy="2148840"/>
          </a:xfrm>
          <a:prstGeom prst="roundRect">
            <a:avLst>
              <a:gd name="adj" fmla="val 4571"/>
            </a:avLst>
          </a:prstGeom>
          <a:solidFill>
            <a:srgbClr val="FFFFFF"/>
          </a:solidFill>
          <a:ln w="12700">
            <a:solidFill>
              <a:srgbClr val="D0D4D9"/>
            </a:solidFill>
            <a:prstDash val="solid"/>
          </a:ln>
        </p:spPr>
      </p:sp>
      <p:sp>
        <p:nvSpPr>
          <p:cNvPr id="37" name="Shape 35"/>
          <p:cNvSpPr/>
          <p:nvPr/>
        </p:nvSpPr>
        <p:spPr>
          <a:xfrm>
            <a:off x="10058400" y="1929384"/>
            <a:ext cx="384048" cy="384048"/>
          </a:xfrm>
          <a:prstGeom prst="ellipse">
            <a:avLst/>
          </a:prstGeom>
          <a:solidFill>
            <a:srgbClr val="000000"/>
          </a:solidFill>
        </p:spPr>
      </p:sp>
      <p:sp>
        <p:nvSpPr>
          <p:cNvPr id="38" name="Text 36"/>
          <p:cNvSpPr/>
          <p:nvPr/>
        </p:nvSpPr>
        <p:spPr>
          <a:xfrm>
            <a:off x="10058400" y="1929384"/>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300" dirty="0"/>
          </a:p>
        </p:txBody>
      </p:sp>
      <p:sp>
        <p:nvSpPr>
          <p:cNvPr id="39" name="Text 37"/>
          <p:cNvSpPr/>
          <p:nvPr/>
        </p:nvSpPr>
        <p:spPr>
          <a:xfrm>
            <a:off x="10058400" y="2441448"/>
            <a:ext cx="1325880" cy="548640"/>
          </a:xfrm>
          <a:prstGeom prst="rect">
            <a:avLst/>
          </a:prstGeom>
          <a:noFill/>
        </p:spPr>
        <p:txBody>
          <a:bodyPr wrap="square" lIns="0" tIns="0" rIns="0" bIns="0" rtlCol="0" anchor="t"/>
          <a:lstStyle/>
          <a:p>
            <a:pPr marL="0" indent="0">
              <a:buNone/>
            </a:pPr>
            <a:r>
              <a:rPr lang="en-US" sz="1500" b="1" dirty="0">
                <a:solidFill>
                  <a:srgbClr val="000000"/>
                </a:solidFill>
                <a:latin typeface="Cambria" panose="02040503050406030204" pitchFamily="34" charset="0"/>
                <a:ea typeface="Cambria" panose="02040503050406030204" pitchFamily="34" charset="-122"/>
                <a:cs typeface="Cambria" panose="02040503050406030204" pitchFamily="34" charset="-120"/>
              </a:rPr>
              <a:t>Digital Twin</a:t>
            </a:r>
            <a:endParaRPr lang="en-US" sz="1500" dirty="0"/>
          </a:p>
        </p:txBody>
      </p:sp>
      <p:sp>
        <p:nvSpPr>
          <p:cNvPr id="40" name="Text 38"/>
          <p:cNvSpPr/>
          <p:nvPr/>
        </p:nvSpPr>
        <p:spPr>
          <a:xfrm>
            <a:off x="10058400" y="3017520"/>
            <a:ext cx="1325880" cy="868680"/>
          </a:xfrm>
          <a:prstGeom prst="rect">
            <a:avLst/>
          </a:prstGeom>
          <a:noFill/>
        </p:spPr>
        <p:txBody>
          <a:bodyPr wrap="square" lIns="0" tIns="0" rIns="0" bIns="0" rtlCol="0" anchor="t"/>
          <a:lstStyle/>
          <a:p>
            <a:pPr marL="0" indent="0">
              <a:buNone/>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Live path loss, received power and link quality</a:t>
            </a:r>
            <a:endParaRPr lang="en-US" sz="1250" dirty="0"/>
          </a:p>
        </p:txBody>
      </p:sp>
      <p:sp>
        <p:nvSpPr>
          <p:cNvPr id="41" name="Shape 39"/>
          <p:cNvSpPr/>
          <p:nvPr/>
        </p:nvSpPr>
        <p:spPr>
          <a:xfrm>
            <a:off x="640080" y="4389120"/>
            <a:ext cx="10881360" cy="1143000"/>
          </a:xfrm>
          <a:prstGeom prst="roundRect">
            <a:avLst>
              <a:gd name="adj" fmla="val 6400"/>
            </a:avLst>
          </a:prstGeom>
          <a:solidFill>
            <a:srgbClr val="E6F3F2"/>
          </a:solidFill>
          <a:ln w="12700">
            <a:solidFill>
              <a:srgbClr val="E6F3F2"/>
            </a:solidFill>
            <a:prstDash val="solid"/>
          </a:ln>
        </p:spPr>
      </p:sp>
      <p:sp>
        <p:nvSpPr>
          <p:cNvPr id="42" name="Text 40"/>
          <p:cNvSpPr/>
          <p:nvPr/>
        </p:nvSpPr>
        <p:spPr>
          <a:xfrm>
            <a:off x="868680" y="4389120"/>
            <a:ext cx="10424160" cy="1143000"/>
          </a:xfrm>
          <a:prstGeom prst="rect">
            <a:avLst/>
          </a:prstGeom>
          <a:noFill/>
        </p:spPr>
        <p:txBody>
          <a:bodyPr wrap="square" lIns="0" tIns="0" rIns="0" bIns="0" rtlCol="0" anchor="ctr"/>
          <a:lstStyle/>
          <a:p>
            <a:pPr marL="0" indent="0">
              <a:buNone/>
            </a:pPr>
            <a:r>
              <a:rPr lang="en-US" sz="1600" b="1" dirty="0">
                <a:solidFill>
                  <a:srgbClr val="0E7C7B"/>
                </a:solidFill>
                <a:latin typeface="Calibri" panose="020F0502020204030204" pitchFamily="34" charset="0"/>
                <a:ea typeface="Calibri" panose="020F0502020204030204" pitchFamily="34" charset="-122"/>
                <a:cs typeface="Calibri" panose="020F0502020204030204" pitchFamily="34" charset="-120"/>
              </a:rPr>
              <a:t>A fair comparison.  </a:t>
            </a:r>
            <a:r>
              <a:rPr lang="en-US" sz="1600" dirty="0">
                <a:solidFill>
                  <a:srgbClr val="444444"/>
                </a:solidFill>
                <a:latin typeface="Calibri" panose="020F0502020204030204" pitchFamily="34" charset="0"/>
                <a:ea typeface="Calibri" panose="020F0502020204030204" pitchFamily="34" charset="-122"/>
                <a:cs typeface="Calibri" panose="020F0502020204030204" pitchFamily="34" charset="-120"/>
              </a:rPr>
              <a:t>Both models receive the same 150 noisy samples and the same starting weights. The only difference is the physics penalty in the PI-DNN loss, so any gap in accuracy comes from the physics.</a:t>
            </a:r>
            <a:endParaRPr lang="en-US" sz="1600" dirty="0"/>
          </a:p>
        </p:txBody>
      </p:sp>
      <p:sp>
        <p:nvSpPr>
          <p:cNvPr id="43" name="Text 41"/>
          <p:cNvSpPr/>
          <p:nvPr/>
        </p:nvSpPr>
        <p:spPr>
          <a:xfrm>
            <a:off x="640080" y="5760720"/>
            <a:ext cx="10881360" cy="365760"/>
          </a:xfrm>
          <a:prstGeom prst="rect">
            <a:avLst/>
          </a:prstGeom>
          <a:noFill/>
        </p:spPr>
        <p:txBody>
          <a:bodyPr wrap="square" lIns="0" tIns="0" rIns="0" bIns="0" rtlCol="0" anchor="ctr"/>
          <a:lstStyle/>
          <a:p>
            <a:pPr marL="0" indent="0">
              <a:buNone/>
            </a:pPr>
            <a:r>
              <a:rPr lang="en-US" sz="1300" i="1" dirty="0">
                <a:solidFill>
                  <a:srgbClr val="888888"/>
                </a:solidFill>
                <a:latin typeface="Calibri" panose="020F0502020204030204" pitchFamily="34" charset="0"/>
                <a:ea typeface="Calibri" panose="020F0502020204030204" pitchFamily="34" charset="-122"/>
                <a:cs typeface="Calibri" panose="020F0502020204030204" pitchFamily="34" charset="-120"/>
              </a:rPr>
              <a:t>Training, metrics and the twin all run in one HTML page; real measurements can be swapped in later.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Dataset: Simulated Air-to-Ground Channel</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Models see labelled data only in a small corner of the operating domain</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pic>
        <p:nvPicPr>
          <p:cNvPr id="6" name="Image 0" descr="/home/claude/fig_domain.png"/>
          <p:cNvPicPr>
            <a:picLocks noChangeAspect="1"/>
          </p:cNvPicPr>
          <p:nvPr/>
        </p:nvPicPr>
        <p:blipFill>
          <a:blip r:embed="rId1"/>
          <a:stretch>
            <a:fillRect/>
          </a:stretch>
        </p:blipFill>
        <p:spPr>
          <a:xfrm>
            <a:off x="640080" y="1691640"/>
            <a:ext cx="5760720" cy="3926871"/>
          </a:xfrm>
          <a:prstGeom prst="rect">
            <a:avLst/>
          </a:prstGeom>
        </p:spPr>
      </p:pic>
      <p:graphicFrame>
        <p:nvGraphicFramePr>
          <p:cNvPr id="7" name="Table 0"/>
          <p:cNvGraphicFramePr>
            <a:graphicFrameLocks noGrp="1"/>
          </p:cNvGraphicFramePr>
          <p:nvPr/>
        </p:nvGraphicFramePr>
        <p:xfrm>
          <a:off x="6720840" y="1691640"/>
          <a:ext cx="4800600" cy="1536192"/>
        </p:xfrm>
        <a:graphic>
          <a:graphicData uri="http://schemas.openxmlformats.org/drawingml/2006/table">
            <a:tbl>
              <a:tblPr/>
              <a:tblGrid>
                <a:gridCol w="1417320"/>
                <a:gridCol w="1691640"/>
                <a:gridCol w="1691640"/>
              </a:tblGrid>
              <a:tr h="384048">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Parameter</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Full domain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Labelled region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r h="384048">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Altitude 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20 – 300 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20 – 150 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84048">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Distance r</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50 – 2000 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50 – 800 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84048">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Frequency 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0.9 – 5.8 GHz</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1.8 – 3.0 GHz</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
        <p:nvSpPr>
          <p:cNvPr id="8" name="Text 4"/>
          <p:cNvSpPr/>
          <p:nvPr/>
        </p:nvSpPr>
        <p:spPr>
          <a:xfrm>
            <a:off x="6720840" y="3429000"/>
            <a:ext cx="4800600" cy="320040"/>
          </a:xfrm>
          <a:prstGeom prst="rect">
            <a:avLst/>
          </a:prstGeom>
          <a:noFill/>
        </p:spPr>
        <p:txBody>
          <a:bodyPr wrap="square" lIns="0" tIns="0" rIns="0" bIns="0" rtlCol="0" anchor="ctr"/>
          <a:lstStyle/>
          <a:p>
            <a:pPr marL="0" indent="0">
              <a:buNone/>
            </a:pPr>
            <a:r>
              <a:rPr lang="en-US" sz="1500" b="1" dirty="0">
                <a:solidFill>
                  <a:srgbClr val="000000"/>
                </a:solidFill>
                <a:latin typeface="Calibri" panose="020F0502020204030204" pitchFamily="34" charset="0"/>
                <a:ea typeface="Calibri" panose="020F0502020204030204" pitchFamily="34" charset="-122"/>
                <a:cs typeface="Calibri" panose="020F0502020204030204" pitchFamily="34" charset="-120"/>
              </a:rPr>
              <a:t>Ground-truth channel</a:t>
            </a:r>
            <a:endParaRPr lang="en-US" sz="1500" dirty="0"/>
          </a:p>
        </p:txBody>
      </p:sp>
      <p:sp>
        <p:nvSpPr>
          <p:cNvPr id="9" name="Text 5"/>
          <p:cNvSpPr/>
          <p:nvPr/>
        </p:nvSpPr>
        <p:spPr>
          <a:xfrm>
            <a:off x="6720840" y="3767328"/>
            <a:ext cx="4800600" cy="365760"/>
          </a:xfrm>
          <a:prstGeom prst="rect">
            <a:avLst/>
          </a:prstGeom>
          <a:noFill/>
        </p:spPr>
        <p:txBody>
          <a:bodyPr wrap="square" lIns="0" tIns="0" rIns="0" bIns="0" rtlCol="0" anchor="ctr"/>
          <a:lstStyle/>
          <a:p>
            <a:pPr marL="0" indent="0">
              <a:buNone/>
            </a:pPr>
            <a:r>
              <a:rPr lang="en-US" sz="1400" i="1" dirty="0">
                <a:solidFill>
                  <a:srgbClr val="0E7C7B"/>
                </a:solidFill>
                <a:latin typeface="Cambria" panose="02040503050406030204" pitchFamily="34" charset="0"/>
                <a:ea typeface="Cambria" panose="02040503050406030204" pitchFamily="34" charset="-122"/>
                <a:cs typeface="Cambria" panose="02040503050406030204" pitchFamily="34" charset="-120"/>
              </a:rPr>
              <a:t>PL = FSPL(d, f) + p · ηLoS + (1 − p) · ηNLoS</a:t>
            </a:r>
            <a:endParaRPr lang="en-US" sz="1400" dirty="0"/>
          </a:p>
        </p:txBody>
      </p:sp>
      <p:sp>
        <p:nvSpPr>
          <p:cNvPr id="10" name="Text 6"/>
          <p:cNvSpPr/>
          <p:nvPr/>
        </p:nvSpPr>
        <p:spPr>
          <a:xfrm>
            <a:off x="6720840" y="4206240"/>
            <a:ext cx="4800600" cy="1920240"/>
          </a:xfrm>
          <a:prstGeom prst="rect">
            <a:avLst/>
          </a:prstGeom>
          <a:noFill/>
        </p:spPr>
        <p:txBody>
          <a:bodyPr wrap="square" lIns="0" tIns="0" rIns="0" bIns="0" rtlCol="0" anchor="t"/>
          <a:lstStyle/>
          <a:p>
            <a:pPr marL="342900" indent="-342900">
              <a:spcAft>
                <a:spcPts val="500"/>
              </a:spcAft>
              <a:buSzPct val="100000"/>
              <a:buChar char="•"/>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p = probability of line of sight, set by the UAV elevation angle</a:t>
            </a:r>
            <a:endParaRPr lang="en-US" sz="1300" dirty="0"/>
          </a:p>
          <a:p>
            <a:pPr marL="342900" indent="-342900">
              <a:spcAft>
                <a:spcPts val="500"/>
              </a:spcAft>
              <a:buSzPct val="100000"/>
              <a:buChar char="•"/>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Suburban excess loss (Al-Hourani et al.): ηLoS = 0.1 dB, ηNLoS = 21 dB</a:t>
            </a:r>
            <a:endParaRPr lang="en-US" sz="1300" dirty="0"/>
          </a:p>
          <a:p>
            <a:pPr marL="342900" indent="-342900">
              <a:spcAft>
                <a:spcPts val="500"/>
              </a:spcAft>
              <a:buSzPct val="100000"/>
              <a:buChar char="•"/>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2 dB Gaussian shadowing added to training samples only</a:t>
            </a:r>
            <a:endParaRPr lang="en-US" sz="1300" dirty="0"/>
          </a:p>
          <a:p>
            <a:pPr marL="342900" indent="-342900">
              <a:spcAft>
                <a:spcPts val="500"/>
              </a:spcAft>
              <a:buSzPct val="100000"/>
              <a:buChar char="•"/>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Test: farther, higher, or at other frequencies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Models and Training Setup</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Both models share exactly the same architecture and starting weights</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graphicFrame>
        <p:nvGraphicFramePr>
          <p:cNvPr id="6" name="Table 0"/>
          <p:cNvGraphicFramePr>
            <a:graphicFrameLocks noGrp="1"/>
          </p:cNvGraphicFramePr>
          <p:nvPr/>
        </p:nvGraphicFramePr>
        <p:xfrm>
          <a:off x="640080" y="1691640"/>
          <a:ext cx="5577840" cy="4608576"/>
        </p:xfrm>
        <a:graphic>
          <a:graphicData uri="http://schemas.openxmlformats.org/drawingml/2006/table">
            <a:tbl>
              <a:tblPr/>
              <a:tblGrid>
                <a:gridCol w="2011680"/>
                <a:gridCol w="3566160"/>
              </a:tblGrid>
              <a:tr h="512064">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Setting</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Value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r h="512064">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Inputs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3: altitude, distance, frequency</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Hidden layers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2 × 48 neurons, ReLU</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Output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 path loss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Optimiser</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Adam, learning rate 0.004, full batch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Epochs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1200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Labelled samples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150 (noisy, labelled region)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Physics weight λ</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1.0 (PI-DNN only)</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Physics points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64 random unlabelled points per epoch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
        <p:nvSpPr>
          <p:cNvPr id="7" name="Shape 4"/>
          <p:cNvSpPr/>
          <p:nvPr/>
        </p:nvSpPr>
        <p:spPr>
          <a:xfrm>
            <a:off x="6675120" y="2103120"/>
            <a:ext cx="1005840" cy="1234440"/>
          </a:xfrm>
          <a:prstGeom prst="roundRect">
            <a:avLst>
              <a:gd name="adj" fmla="val 7273"/>
            </a:avLst>
          </a:prstGeom>
          <a:solidFill>
            <a:srgbClr val="E6F3F2"/>
          </a:solidFill>
          <a:ln w="15875">
            <a:solidFill>
              <a:srgbClr val="0E7C7B"/>
            </a:solidFill>
            <a:prstDash val="solid"/>
          </a:ln>
        </p:spPr>
      </p:sp>
      <p:sp>
        <p:nvSpPr>
          <p:cNvPr id="8" name="Text 5"/>
          <p:cNvSpPr/>
          <p:nvPr/>
        </p:nvSpPr>
        <p:spPr>
          <a:xfrm>
            <a:off x="6675120" y="2212848"/>
            <a:ext cx="1005840" cy="502920"/>
          </a:xfrm>
          <a:prstGeom prst="rect">
            <a:avLst/>
          </a:prstGeom>
          <a:noFill/>
        </p:spPr>
        <p:txBody>
          <a:bodyPr wrap="square" lIns="0" tIns="0" rIns="0" bIns="0" rtlCol="0" anchor="ctr"/>
          <a:lstStyle/>
          <a:p>
            <a:pPr marL="0" indent="0" algn="ctr">
              <a:buNone/>
            </a:pPr>
            <a:r>
              <a:rPr lang="en-US" sz="2400" b="1" dirty="0">
                <a:solidFill>
                  <a:srgbClr val="000000"/>
                </a:solidFill>
                <a:latin typeface="Cambria" panose="02040503050406030204" pitchFamily="34" charset="0"/>
                <a:ea typeface="Cambria" panose="02040503050406030204" pitchFamily="34" charset="-122"/>
                <a:cs typeface="Cambria" panose="02040503050406030204" pitchFamily="34" charset="-120"/>
              </a:rPr>
              <a:t>3</a:t>
            </a:r>
            <a:endParaRPr lang="en-US" sz="2400" dirty="0"/>
          </a:p>
        </p:txBody>
      </p:sp>
      <p:sp>
        <p:nvSpPr>
          <p:cNvPr id="9" name="Text 6"/>
          <p:cNvSpPr/>
          <p:nvPr/>
        </p:nvSpPr>
        <p:spPr>
          <a:xfrm>
            <a:off x="6720840" y="2761488"/>
            <a:ext cx="914400" cy="411480"/>
          </a:xfrm>
          <a:prstGeom prst="rect">
            <a:avLst/>
          </a:prstGeom>
          <a:noFill/>
        </p:spPr>
        <p:txBody>
          <a:bodyPr wrap="square" lIns="0" tIns="0" rIns="0" bIns="0" rtlCol="0" anchor="t"/>
          <a:lstStyle/>
          <a:p>
            <a:pPr marL="0" indent="0" algn="ctr">
              <a:buNone/>
            </a:pPr>
            <a:r>
              <a:rPr lang="en-US" sz="1100" dirty="0">
                <a:solidFill>
                  <a:srgbClr val="444444"/>
                </a:solidFill>
                <a:latin typeface="Calibri" panose="020F0502020204030204" pitchFamily="34" charset="0"/>
                <a:ea typeface="Calibri" panose="020F0502020204030204" pitchFamily="34" charset="-122"/>
                <a:cs typeface="Calibri" panose="020F0502020204030204" pitchFamily="34" charset="-120"/>
              </a:rPr>
              <a:t>Input</a:t>
            </a:r>
            <a:endParaRPr lang="en-US" sz="1100" dirty="0"/>
          </a:p>
        </p:txBody>
      </p:sp>
      <p:sp>
        <p:nvSpPr>
          <p:cNvPr id="10" name="Shape 7"/>
          <p:cNvSpPr/>
          <p:nvPr/>
        </p:nvSpPr>
        <p:spPr>
          <a:xfrm>
            <a:off x="7699248" y="2720340"/>
            <a:ext cx="265176" cy="0"/>
          </a:xfrm>
          <a:prstGeom prst="line">
            <a:avLst/>
          </a:prstGeom>
          <a:noFill/>
          <a:ln w="19050">
            <a:solidFill>
              <a:srgbClr val="888888"/>
            </a:solidFill>
            <a:prstDash val="solid"/>
            <a:tailEnd type="triangle"/>
          </a:ln>
        </p:spPr>
      </p:sp>
      <p:sp>
        <p:nvSpPr>
          <p:cNvPr id="11" name="Shape 8"/>
          <p:cNvSpPr/>
          <p:nvPr/>
        </p:nvSpPr>
        <p:spPr>
          <a:xfrm>
            <a:off x="7982712" y="2103120"/>
            <a:ext cx="1005840" cy="1234440"/>
          </a:xfrm>
          <a:prstGeom prst="roundRect">
            <a:avLst>
              <a:gd name="adj" fmla="val 7273"/>
            </a:avLst>
          </a:prstGeom>
          <a:solidFill>
            <a:srgbClr val="FFFFFF"/>
          </a:solidFill>
          <a:ln w="15875">
            <a:solidFill>
              <a:srgbClr val="D0D4D9"/>
            </a:solidFill>
            <a:prstDash val="solid"/>
          </a:ln>
        </p:spPr>
      </p:sp>
      <p:sp>
        <p:nvSpPr>
          <p:cNvPr id="12" name="Text 9"/>
          <p:cNvSpPr/>
          <p:nvPr/>
        </p:nvSpPr>
        <p:spPr>
          <a:xfrm>
            <a:off x="7982712" y="2212848"/>
            <a:ext cx="1005840" cy="502920"/>
          </a:xfrm>
          <a:prstGeom prst="rect">
            <a:avLst/>
          </a:prstGeom>
          <a:noFill/>
        </p:spPr>
        <p:txBody>
          <a:bodyPr wrap="square" lIns="0" tIns="0" rIns="0" bIns="0" rtlCol="0" anchor="ctr"/>
          <a:lstStyle/>
          <a:p>
            <a:pPr marL="0" indent="0" algn="ctr">
              <a:buNone/>
            </a:pPr>
            <a:r>
              <a:rPr lang="en-US" sz="2400" b="1" dirty="0">
                <a:solidFill>
                  <a:srgbClr val="000000"/>
                </a:solidFill>
                <a:latin typeface="Cambria" panose="02040503050406030204" pitchFamily="34" charset="0"/>
                <a:ea typeface="Cambria" panose="02040503050406030204" pitchFamily="34" charset="-122"/>
                <a:cs typeface="Cambria" panose="02040503050406030204" pitchFamily="34" charset="-120"/>
              </a:rPr>
              <a:t>48</a:t>
            </a:r>
            <a:endParaRPr lang="en-US" sz="2400" dirty="0"/>
          </a:p>
        </p:txBody>
      </p:sp>
      <p:sp>
        <p:nvSpPr>
          <p:cNvPr id="13" name="Text 10"/>
          <p:cNvSpPr/>
          <p:nvPr/>
        </p:nvSpPr>
        <p:spPr>
          <a:xfrm>
            <a:off x="8028432" y="2761488"/>
            <a:ext cx="914400" cy="411480"/>
          </a:xfrm>
          <a:prstGeom prst="rect">
            <a:avLst/>
          </a:prstGeom>
          <a:noFill/>
        </p:spPr>
        <p:txBody>
          <a:bodyPr wrap="square" lIns="0" tIns="0" rIns="0" bIns="0" rtlCol="0" anchor="t"/>
          <a:lstStyle/>
          <a:p>
            <a:pPr marL="0" indent="0" algn="ctr">
              <a:buNone/>
            </a:pPr>
            <a:r>
              <a:rPr lang="en-US" sz="1100" dirty="0">
                <a:solidFill>
                  <a:srgbClr val="444444"/>
                </a:solidFill>
                <a:latin typeface="Calibri" panose="020F0502020204030204" pitchFamily="34" charset="0"/>
                <a:ea typeface="Calibri" panose="020F0502020204030204" pitchFamily="34" charset="-122"/>
                <a:cs typeface="Calibri" panose="020F0502020204030204" pitchFamily="34" charset="-120"/>
              </a:rPr>
              <a:t>Dense + ReLU</a:t>
            </a:r>
            <a:endParaRPr lang="en-US" sz="1100" dirty="0"/>
          </a:p>
        </p:txBody>
      </p:sp>
      <p:sp>
        <p:nvSpPr>
          <p:cNvPr id="14" name="Shape 11"/>
          <p:cNvSpPr/>
          <p:nvPr/>
        </p:nvSpPr>
        <p:spPr>
          <a:xfrm>
            <a:off x="9006840" y="2720340"/>
            <a:ext cx="265176" cy="0"/>
          </a:xfrm>
          <a:prstGeom prst="line">
            <a:avLst/>
          </a:prstGeom>
          <a:noFill/>
          <a:ln w="19050">
            <a:solidFill>
              <a:srgbClr val="888888"/>
            </a:solidFill>
            <a:prstDash val="solid"/>
            <a:tailEnd type="triangle"/>
          </a:ln>
        </p:spPr>
      </p:sp>
      <p:sp>
        <p:nvSpPr>
          <p:cNvPr id="15" name="Shape 12"/>
          <p:cNvSpPr/>
          <p:nvPr/>
        </p:nvSpPr>
        <p:spPr>
          <a:xfrm>
            <a:off x="9290304" y="2103120"/>
            <a:ext cx="1005840" cy="1234440"/>
          </a:xfrm>
          <a:prstGeom prst="roundRect">
            <a:avLst>
              <a:gd name="adj" fmla="val 7273"/>
            </a:avLst>
          </a:prstGeom>
          <a:solidFill>
            <a:srgbClr val="FFFFFF"/>
          </a:solidFill>
          <a:ln w="15875">
            <a:solidFill>
              <a:srgbClr val="D0D4D9"/>
            </a:solidFill>
            <a:prstDash val="solid"/>
          </a:ln>
        </p:spPr>
      </p:sp>
      <p:sp>
        <p:nvSpPr>
          <p:cNvPr id="16" name="Text 13"/>
          <p:cNvSpPr/>
          <p:nvPr/>
        </p:nvSpPr>
        <p:spPr>
          <a:xfrm>
            <a:off x="9290304" y="2212848"/>
            <a:ext cx="1005840" cy="502920"/>
          </a:xfrm>
          <a:prstGeom prst="rect">
            <a:avLst/>
          </a:prstGeom>
          <a:noFill/>
        </p:spPr>
        <p:txBody>
          <a:bodyPr wrap="square" lIns="0" tIns="0" rIns="0" bIns="0" rtlCol="0" anchor="ctr"/>
          <a:lstStyle/>
          <a:p>
            <a:pPr marL="0" indent="0" algn="ctr">
              <a:buNone/>
            </a:pPr>
            <a:r>
              <a:rPr lang="en-US" sz="2400" b="1" dirty="0">
                <a:solidFill>
                  <a:srgbClr val="000000"/>
                </a:solidFill>
                <a:latin typeface="Cambria" panose="02040503050406030204" pitchFamily="34" charset="0"/>
                <a:ea typeface="Cambria" panose="02040503050406030204" pitchFamily="34" charset="-122"/>
                <a:cs typeface="Cambria" panose="02040503050406030204" pitchFamily="34" charset="-120"/>
              </a:rPr>
              <a:t>48</a:t>
            </a:r>
            <a:endParaRPr lang="en-US" sz="2400" dirty="0"/>
          </a:p>
        </p:txBody>
      </p:sp>
      <p:sp>
        <p:nvSpPr>
          <p:cNvPr id="17" name="Text 14"/>
          <p:cNvSpPr/>
          <p:nvPr/>
        </p:nvSpPr>
        <p:spPr>
          <a:xfrm>
            <a:off x="9336024" y="2761488"/>
            <a:ext cx="914400" cy="411480"/>
          </a:xfrm>
          <a:prstGeom prst="rect">
            <a:avLst/>
          </a:prstGeom>
          <a:noFill/>
        </p:spPr>
        <p:txBody>
          <a:bodyPr wrap="square" lIns="0" tIns="0" rIns="0" bIns="0" rtlCol="0" anchor="t"/>
          <a:lstStyle/>
          <a:p>
            <a:pPr marL="0" indent="0" algn="ctr">
              <a:buNone/>
            </a:pPr>
            <a:r>
              <a:rPr lang="en-US" sz="1100" dirty="0">
                <a:solidFill>
                  <a:srgbClr val="444444"/>
                </a:solidFill>
                <a:latin typeface="Calibri" panose="020F0502020204030204" pitchFamily="34" charset="0"/>
                <a:ea typeface="Calibri" panose="020F0502020204030204" pitchFamily="34" charset="-122"/>
                <a:cs typeface="Calibri" panose="020F0502020204030204" pitchFamily="34" charset="-120"/>
              </a:rPr>
              <a:t>Dense + ReLU</a:t>
            </a:r>
            <a:endParaRPr lang="en-US" sz="1100" dirty="0"/>
          </a:p>
        </p:txBody>
      </p:sp>
      <p:sp>
        <p:nvSpPr>
          <p:cNvPr id="18" name="Shape 15"/>
          <p:cNvSpPr/>
          <p:nvPr/>
        </p:nvSpPr>
        <p:spPr>
          <a:xfrm>
            <a:off x="10314432" y="2720340"/>
            <a:ext cx="265176" cy="0"/>
          </a:xfrm>
          <a:prstGeom prst="line">
            <a:avLst/>
          </a:prstGeom>
          <a:noFill/>
          <a:ln w="19050">
            <a:solidFill>
              <a:srgbClr val="888888"/>
            </a:solidFill>
            <a:prstDash val="solid"/>
            <a:tailEnd type="triangle"/>
          </a:ln>
        </p:spPr>
      </p:sp>
      <p:sp>
        <p:nvSpPr>
          <p:cNvPr id="19" name="Shape 16"/>
          <p:cNvSpPr/>
          <p:nvPr/>
        </p:nvSpPr>
        <p:spPr>
          <a:xfrm>
            <a:off x="10597896" y="2103120"/>
            <a:ext cx="1005840" cy="1234440"/>
          </a:xfrm>
          <a:prstGeom prst="roundRect">
            <a:avLst>
              <a:gd name="adj" fmla="val 7273"/>
            </a:avLst>
          </a:prstGeom>
          <a:solidFill>
            <a:srgbClr val="E6F3F2"/>
          </a:solidFill>
          <a:ln w="15875">
            <a:solidFill>
              <a:srgbClr val="0E7C7B"/>
            </a:solidFill>
            <a:prstDash val="solid"/>
          </a:ln>
        </p:spPr>
      </p:sp>
      <p:sp>
        <p:nvSpPr>
          <p:cNvPr id="20" name="Text 17"/>
          <p:cNvSpPr/>
          <p:nvPr/>
        </p:nvSpPr>
        <p:spPr>
          <a:xfrm>
            <a:off x="10597896" y="2212848"/>
            <a:ext cx="1005840" cy="502920"/>
          </a:xfrm>
          <a:prstGeom prst="rect">
            <a:avLst/>
          </a:prstGeom>
          <a:noFill/>
        </p:spPr>
        <p:txBody>
          <a:bodyPr wrap="square" lIns="0" tIns="0" rIns="0" bIns="0" rtlCol="0" anchor="ctr"/>
          <a:lstStyle/>
          <a:p>
            <a:pPr marL="0" indent="0" algn="ctr">
              <a:buNone/>
            </a:pPr>
            <a:r>
              <a:rPr lang="en-US" sz="2400" b="1" dirty="0">
                <a:solidFill>
                  <a:srgbClr val="000000"/>
                </a:solidFill>
                <a:latin typeface="Cambria" panose="02040503050406030204" pitchFamily="34" charset="0"/>
                <a:ea typeface="Cambria" panose="02040503050406030204" pitchFamily="34" charset="-122"/>
                <a:cs typeface="Cambria" panose="02040503050406030204" pitchFamily="34" charset="-120"/>
              </a:rPr>
              <a:t>1</a:t>
            </a:r>
            <a:endParaRPr lang="en-US" sz="2400" dirty="0"/>
          </a:p>
        </p:txBody>
      </p:sp>
      <p:sp>
        <p:nvSpPr>
          <p:cNvPr id="21" name="Text 18"/>
          <p:cNvSpPr/>
          <p:nvPr/>
        </p:nvSpPr>
        <p:spPr>
          <a:xfrm>
            <a:off x="10643616" y="2761488"/>
            <a:ext cx="914400" cy="411480"/>
          </a:xfrm>
          <a:prstGeom prst="rect">
            <a:avLst/>
          </a:prstGeom>
          <a:noFill/>
        </p:spPr>
        <p:txBody>
          <a:bodyPr wrap="square" lIns="0" tIns="0" rIns="0" bIns="0" rtlCol="0" anchor="t"/>
          <a:lstStyle/>
          <a:p>
            <a:pPr marL="0" indent="0" algn="ctr">
              <a:buNone/>
            </a:pPr>
            <a:r>
              <a:rPr lang="en-US" sz="1100" dirty="0">
                <a:solidFill>
                  <a:srgbClr val="444444"/>
                </a:solidFill>
                <a:latin typeface="Calibri" panose="020F0502020204030204" pitchFamily="34" charset="0"/>
                <a:ea typeface="Calibri" panose="020F0502020204030204" pitchFamily="34" charset="-122"/>
                <a:cs typeface="Calibri" panose="020F0502020204030204" pitchFamily="34" charset="-120"/>
              </a:rPr>
              <a:t>Output</a:t>
            </a:r>
            <a:endParaRPr lang="en-US" sz="1100" dirty="0"/>
          </a:p>
        </p:txBody>
      </p:sp>
      <p:sp>
        <p:nvSpPr>
          <p:cNvPr id="22" name="Text 19"/>
          <p:cNvSpPr/>
          <p:nvPr/>
        </p:nvSpPr>
        <p:spPr>
          <a:xfrm>
            <a:off x="6537960" y="3410712"/>
            <a:ext cx="1371600" cy="457200"/>
          </a:xfrm>
          <a:prstGeom prst="rect">
            <a:avLst/>
          </a:prstGeom>
          <a:noFill/>
        </p:spPr>
        <p:txBody>
          <a:bodyPr wrap="square" lIns="0" tIns="0" rIns="0" bIns="0" rtlCol="0" anchor="t"/>
          <a:lstStyle/>
          <a:p>
            <a:pPr marL="0" indent="0" algn="ctr">
              <a:buNone/>
            </a:pPr>
            <a:r>
              <a:rPr lang="en-US" sz="1050" dirty="0">
                <a:solidFill>
                  <a:srgbClr val="888888"/>
                </a:solidFill>
                <a:latin typeface="Calibri" panose="020F0502020204030204" pitchFamily="34" charset="0"/>
                <a:ea typeface="Calibri" panose="020F0502020204030204" pitchFamily="34" charset="-122"/>
                <a:cs typeface="Calibri" panose="020F0502020204030204" pitchFamily="34" charset="-120"/>
              </a:rPr>
              <a:t>altitude, distance, frequency</a:t>
            </a:r>
            <a:endParaRPr lang="en-US" sz="1050" dirty="0"/>
          </a:p>
        </p:txBody>
      </p:sp>
      <p:sp>
        <p:nvSpPr>
          <p:cNvPr id="23" name="Text 20"/>
          <p:cNvSpPr/>
          <p:nvPr/>
        </p:nvSpPr>
        <p:spPr>
          <a:xfrm>
            <a:off x="10506456" y="3410712"/>
            <a:ext cx="1188720" cy="365760"/>
          </a:xfrm>
          <a:prstGeom prst="rect">
            <a:avLst/>
          </a:prstGeom>
          <a:noFill/>
        </p:spPr>
        <p:txBody>
          <a:bodyPr wrap="square" lIns="0" tIns="0" rIns="0" bIns="0" rtlCol="0" anchor="t"/>
          <a:lstStyle/>
          <a:p>
            <a:pPr marL="0" indent="0" algn="ctr">
              <a:buNone/>
            </a:pPr>
            <a:r>
              <a:rPr lang="en-US" sz="1050" dirty="0">
                <a:solidFill>
                  <a:srgbClr val="888888"/>
                </a:solidFill>
                <a:latin typeface="Calibri" panose="020F0502020204030204" pitchFamily="34" charset="0"/>
                <a:ea typeface="Calibri" panose="020F0502020204030204" pitchFamily="34" charset="-122"/>
                <a:cs typeface="Calibri" panose="020F0502020204030204" pitchFamily="34" charset="-120"/>
              </a:rPr>
              <a:t>path loss (dB)</a:t>
            </a:r>
            <a:endParaRPr lang="en-US" sz="1050" dirty="0"/>
          </a:p>
        </p:txBody>
      </p:sp>
      <p:sp>
        <p:nvSpPr>
          <p:cNvPr id="24" name="Shape 21"/>
          <p:cNvSpPr/>
          <p:nvPr/>
        </p:nvSpPr>
        <p:spPr>
          <a:xfrm>
            <a:off x="6675120" y="4434840"/>
            <a:ext cx="4846320" cy="1600200"/>
          </a:xfrm>
          <a:prstGeom prst="roundRect">
            <a:avLst>
              <a:gd name="adj" fmla="val 4571"/>
            </a:avLst>
          </a:prstGeom>
          <a:solidFill>
            <a:srgbClr val="F4F5F7"/>
          </a:solidFill>
          <a:ln w="12700">
            <a:solidFill>
              <a:srgbClr val="F4F5F7"/>
            </a:solidFill>
            <a:prstDash val="solid"/>
          </a:ln>
        </p:spPr>
      </p:sp>
      <p:sp>
        <p:nvSpPr>
          <p:cNvPr id="25" name="Text 22"/>
          <p:cNvSpPr/>
          <p:nvPr/>
        </p:nvSpPr>
        <p:spPr>
          <a:xfrm>
            <a:off x="6858000" y="4434840"/>
            <a:ext cx="4480560" cy="1600200"/>
          </a:xfrm>
          <a:prstGeom prst="rect">
            <a:avLst/>
          </a:prstGeom>
          <a:noFill/>
        </p:spPr>
        <p:txBody>
          <a:bodyPr wrap="square" lIns="0" tIns="0" rIns="0" bIns="0" rtlCol="0" anchor="ctr"/>
          <a:lstStyle/>
          <a:p>
            <a:pPr marL="0" indent="0">
              <a:buNone/>
            </a:pPr>
            <a:r>
              <a:rPr lang="en-US" sz="1450" b="1" dirty="0">
                <a:solidFill>
                  <a:srgbClr val="000000"/>
                </a:solidFill>
                <a:latin typeface="Calibri" panose="020F0502020204030204" pitchFamily="34" charset="0"/>
                <a:ea typeface="Calibri" panose="020F0502020204030204" pitchFamily="34" charset="-122"/>
                <a:cs typeface="Calibri" panose="020F0502020204030204" pitchFamily="34" charset="-120"/>
              </a:rPr>
              <a:t>Where does transmit power go?</a:t>
            </a:r>
            <a:endParaRPr lang="en-US" sz="1450" dirty="0"/>
          </a:p>
          <a:p>
            <a:pPr marL="0" indent="0">
              <a:buNone/>
            </a:pPr>
            <a:r>
              <a:rPr lang="en-US" sz="1450" dirty="0">
                <a:solidFill>
                  <a:srgbClr val="444444"/>
                </a:solidFill>
                <a:latin typeface="Calibri" panose="020F0502020204030204" pitchFamily="34" charset="0"/>
                <a:ea typeface="Calibri" panose="020F0502020204030204" pitchFamily="34" charset="-122"/>
                <a:cs typeface="Calibri" panose="020F0502020204030204" pitchFamily="34" charset="-120"/>
              </a:rPr>
              <a:t>It is not a network input. The twin computes received power = transmit power − predicted path loss (0 dBi antennas).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Physics-Informed Loss</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Three propagation laws, enforced where there is no labelled data</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
        <p:nvSpPr>
          <p:cNvPr id="6" name="Text 4"/>
          <p:cNvSpPr/>
          <p:nvPr/>
        </p:nvSpPr>
        <p:spPr>
          <a:xfrm>
            <a:off x="640080" y="1645920"/>
            <a:ext cx="10881360" cy="731520"/>
          </a:xfrm>
          <a:prstGeom prst="rect">
            <a:avLst/>
          </a:prstGeom>
          <a:noFill/>
        </p:spPr>
        <p:txBody>
          <a:bodyPr wrap="square" lIns="0" tIns="0" rIns="0" bIns="0" rtlCol="0" anchor="ctr"/>
          <a:lstStyle/>
          <a:p>
            <a:pPr marL="0" indent="0" algn="ctr">
              <a:buNone/>
            </a:pPr>
            <a:r>
              <a:rPr lang="en-US" sz="3200" b="1" i="1" dirty="0">
                <a:solidFill>
                  <a:srgbClr val="0E7C7B"/>
                </a:solidFill>
                <a:latin typeface="Cambria" panose="02040503050406030204" pitchFamily="34" charset="0"/>
                <a:ea typeface="Cambria" panose="02040503050406030204" pitchFamily="34" charset="-122"/>
                <a:cs typeface="Cambria" panose="02040503050406030204" pitchFamily="34" charset="-120"/>
              </a:rPr>
              <a:t>L</a:t>
            </a:r>
            <a:r>
              <a:rPr lang="en-US" sz="3200" b="1" baseline="-40000" dirty="0">
                <a:solidFill>
                  <a:srgbClr val="0E7C7B"/>
                </a:solidFill>
                <a:latin typeface="Cambria" panose="02040503050406030204" pitchFamily="34" charset="0"/>
                <a:ea typeface="Cambria" panose="02040503050406030204" pitchFamily="34" charset="-122"/>
                <a:cs typeface="Cambria" panose="02040503050406030204" pitchFamily="34" charset="-120"/>
              </a:rPr>
              <a:t>total</a:t>
            </a:r>
            <a:r>
              <a:rPr lang="en-US" sz="3200" b="1" i="1" dirty="0">
                <a:solidFill>
                  <a:srgbClr val="0E7C7B"/>
                </a:solidFill>
                <a:latin typeface="Cambria" panose="02040503050406030204" pitchFamily="34" charset="0"/>
                <a:ea typeface="Cambria" panose="02040503050406030204" pitchFamily="34" charset="-122"/>
                <a:cs typeface="Cambria" panose="02040503050406030204" pitchFamily="34" charset="-120"/>
              </a:rPr>
              <a:t>  =  L</a:t>
            </a:r>
            <a:r>
              <a:rPr lang="en-US" sz="3200" b="1" baseline="-40000" dirty="0">
                <a:solidFill>
                  <a:srgbClr val="0E7C7B"/>
                </a:solidFill>
                <a:latin typeface="Cambria" panose="02040503050406030204" pitchFamily="34" charset="0"/>
                <a:ea typeface="Cambria" panose="02040503050406030204" pitchFamily="34" charset="-122"/>
                <a:cs typeface="Cambria" panose="02040503050406030204" pitchFamily="34" charset="-120"/>
              </a:rPr>
              <a:t>data</a:t>
            </a:r>
            <a:r>
              <a:rPr lang="en-US" sz="3200" b="1" i="1" dirty="0">
                <a:solidFill>
                  <a:srgbClr val="0E7C7B"/>
                </a:solidFill>
                <a:latin typeface="Cambria" panose="02040503050406030204" pitchFamily="34" charset="0"/>
                <a:ea typeface="Cambria" panose="02040503050406030204" pitchFamily="34" charset="-122"/>
                <a:cs typeface="Cambria" panose="02040503050406030204" pitchFamily="34" charset="-120"/>
              </a:rPr>
              <a:t>  +  λ · L</a:t>
            </a:r>
            <a:r>
              <a:rPr lang="en-US" sz="3200" b="1" baseline="-40000" dirty="0">
                <a:solidFill>
                  <a:srgbClr val="0E7C7B"/>
                </a:solidFill>
                <a:latin typeface="Cambria" panose="02040503050406030204" pitchFamily="34" charset="0"/>
                <a:ea typeface="Cambria" panose="02040503050406030204" pitchFamily="34" charset="-122"/>
                <a:cs typeface="Cambria" panose="02040503050406030204" pitchFamily="34" charset="-120"/>
              </a:rPr>
              <a:t>physics</a:t>
            </a:r>
            <a:endParaRPr lang="en-US" sz="3200" dirty="0"/>
          </a:p>
        </p:txBody>
      </p:sp>
      <p:sp>
        <p:nvSpPr>
          <p:cNvPr id="7" name="Shape 5"/>
          <p:cNvSpPr/>
          <p:nvPr/>
        </p:nvSpPr>
        <p:spPr>
          <a:xfrm>
            <a:off x="640080" y="2651760"/>
            <a:ext cx="3474720" cy="2514600"/>
          </a:xfrm>
          <a:prstGeom prst="roundRect">
            <a:avLst>
              <a:gd name="adj" fmla="val 2909"/>
            </a:avLst>
          </a:prstGeom>
          <a:solidFill>
            <a:srgbClr val="FFFFFF"/>
          </a:solidFill>
          <a:ln w="12700">
            <a:solidFill>
              <a:srgbClr val="D0D4D9"/>
            </a:solidFill>
            <a:prstDash val="solid"/>
          </a:ln>
        </p:spPr>
      </p:sp>
      <p:sp>
        <p:nvSpPr>
          <p:cNvPr id="8" name="Shape 6"/>
          <p:cNvSpPr/>
          <p:nvPr/>
        </p:nvSpPr>
        <p:spPr>
          <a:xfrm>
            <a:off x="822960" y="2834640"/>
            <a:ext cx="384048" cy="384048"/>
          </a:xfrm>
          <a:prstGeom prst="ellipse">
            <a:avLst/>
          </a:prstGeom>
          <a:solidFill>
            <a:srgbClr val="0E7C7B"/>
          </a:solidFill>
        </p:spPr>
      </p:sp>
      <p:sp>
        <p:nvSpPr>
          <p:cNvPr id="9" name="Text 7"/>
          <p:cNvSpPr/>
          <p:nvPr/>
        </p:nvSpPr>
        <p:spPr>
          <a:xfrm>
            <a:off x="822960" y="2834640"/>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10" name="Text 8"/>
          <p:cNvSpPr/>
          <p:nvPr/>
        </p:nvSpPr>
        <p:spPr>
          <a:xfrm>
            <a:off x="1325880" y="2834640"/>
            <a:ext cx="2606040" cy="384048"/>
          </a:xfrm>
          <a:prstGeom prst="rect">
            <a:avLst/>
          </a:prstGeom>
          <a:noFill/>
        </p:spPr>
        <p:txBody>
          <a:bodyPr wrap="square" lIns="0" tIns="0" rIns="0" bIns="0" rtlCol="0" anchor="ctr"/>
          <a:lstStyle/>
          <a:p>
            <a:pPr marL="0" indent="0">
              <a:buNone/>
            </a:pPr>
            <a:r>
              <a:rPr lang="en-US" sz="1700" b="1" dirty="0">
                <a:solidFill>
                  <a:srgbClr val="000000"/>
                </a:solidFill>
                <a:latin typeface="Cambria" panose="02040503050406030204" pitchFamily="34" charset="0"/>
                <a:ea typeface="Cambria" panose="02040503050406030204" pitchFamily="34" charset="-122"/>
                <a:cs typeface="Cambria" panose="02040503050406030204" pitchFamily="34" charset="-120"/>
              </a:rPr>
              <a:t>Distance law</a:t>
            </a:r>
            <a:endParaRPr lang="en-US" sz="1700" dirty="0"/>
          </a:p>
        </p:txBody>
      </p:sp>
      <p:sp>
        <p:nvSpPr>
          <p:cNvPr id="11" name="Text 9"/>
          <p:cNvSpPr/>
          <p:nvPr/>
        </p:nvSpPr>
        <p:spPr>
          <a:xfrm>
            <a:off x="822960" y="3383280"/>
            <a:ext cx="3108960" cy="457200"/>
          </a:xfrm>
          <a:prstGeom prst="rect">
            <a:avLst/>
          </a:prstGeom>
          <a:noFill/>
        </p:spPr>
        <p:txBody>
          <a:bodyPr wrap="square" lIns="0" tIns="0" rIns="0" bIns="0" rtlCol="0" anchor="ctr"/>
          <a:lstStyle/>
          <a:p>
            <a:pPr marL="0" indent="0">
              <a:buNone/>
            </a:pPr>
            <a:r>
              <a:rPr lang="en-US" sz="1400" i="1" dirty="0">
                <a:solidFill>
                  <a:srgbClr val="0E7C7B"/>
                </a:solidFill>
                <a:latin typeface="Cambria" panose="02040503050406030204" pitchFamily="34" charset="0"/>
                <a:ea typeface="Cambria" panose="02040503050406030204" pitchFamily="34" charset="-122"/>
                <a:cs typeface="Cambria" panose="02040503050406030204" pitchFamily="34" charset="-120"/>
              </a:rPr>
              <a:t>PL(s·d) − PL(d) = 20·log₁₀(s)</a:t>
            </a:r>
            <a:endParaRPr lang="en-US" sz="1400" dirty="0"/>
          </a:p>
        </p:txBody>
      </p:sp>
      <p:sp>
        <p:nvSpPr>
          <p:cNvPr id="12" name="Text 10"/>
          <p:cNvSpPr/>
          <p:nvPr/>
        </p:nvSpPr>
        <p:spPr>
          <a:xfrm>
            <a:off x="822960" y="3931920"/>
            <a:ext cx="3108960" cy="1143000"/>
          </a:xfrm>
          <a:prstGeom prst="rect">
            <a:avLst/>
          </a:prstGeom>
          <a:noFill/>
        </p:spPr>
        <p:txBody>
          <a:bodyPr wrap="square" lIns="0" tIns="0" rIns="0" bIns="0" rtlCol="0" anchor="t"/>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At a constant elevation angle, scaling the distance by s (1.25) must add exactly 20·log₁₀ s dB.</a:t>
            </a:r>
            <a:endParaRPr lang="en-US" sz="1300" dirty="0"/>
          </a:p>
        </p:txBody>
      </p:sp>
      <p:sp>
        <p:nvSpPr>
          <p:cNvPr id="13" name="Shape 11"/>
          <p:cNvSpPr/>
          <p:nvPr/>
        </p:nvSpPr>
        <p:spPr>
          <a:xfrm>
            <a:off x="4343400" y="2651760"/>
            <a:ext cx="3474720" cy="2514600"/>
          </a:xfrm>
          <a:prstGeom prst="roundRect">
            <a:avLst>
              <a:gd name="adj" fmla="val 2909"/>
            </a:avLst>
          </a:prstGeom>
          <a:solidFill>
            <a:srgbClr val="FFFFFF"/>
          </a:solidFill>
          <a:ln w="12700">
            <a:solidFill>
              <a:srgbClr val="D0D4D9"/>
            </a:solidFill>
            <a:prstDash val="solid"/>
          </a:ln>
        </p:spPr>
      </p:sp>
      <p:sp>
        <p:nvSpPr>
          <p:cNvPr id="14" name="Shape 12"/>
          <p:cNvSpPr/>
          <p:nvPr/>
        </p:nvSpPr>
        <p:spPr>
          <a:xfrm>
            <a:off x="4526280" y="2834640"/>
            <a:ext cx="384048" cy="384048"/>
          </a:xfrm>
          <a:prstGeom prst="ellipse">
            <a:avLst/>
          </a:prstGeom>
          <a:solidFill>
            <a:srgbClr val="0E7C7B"/>
          </a:solidFill>
        </p:spPr>
      </p:sp>
      <p:sp>
        <p:nvSpPr>
          <p:cNvPr id="15" name="Text 13"/>
          <p:cNvSpPr/>
          <p:nvPr/>
        </p:nvSpPr>
        <p:spPr>
          <a:xfrm>
            <a:off x="4526280" y="2834640"/>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6" name="Text 14"/>
          <p:cNvSpPr/>
          <p:nvPr/>
        </p:nvSpPr>
        <p:spPr>
          <a:xfrm>
            <a:off x="5029200" y="2834640"/>
            <a:ext cx="2606040" cy="384048"/>
          </a:xfrm>
          <a:prstGeom prst="rect">
            <a:avLst/>
          </a:prstGeom>
          <a:noFill/>
        </p:spPr>
        <p:txBody>
          <a:bodyPr wrap="square" lIns="0" tIns="0" rIns="0" bIns="0" rtlCol="0" anchor="ctr"/>
          <a:lstStyle/>
          <a:p>
            <a:pPr marL="0" indent="0">
              <a:buNone/>
            </a:pPr>
            <a:r>
              <a:rPr lang="en-US" sz="1700" b="1" dirty="0">
                <a:solidFill>
                  <a:srgbClr val="000000"/>
                </a:solidFill>
                <a:latin typeface="Cambria" panose="02040503050406030204" pitchFamily="34" charset="0"/>
                <a:ea typeface="Cambria" panose="02040503050406030204" pitchFamily="34" charset="-122"/>
                <a:cs typeface="Cambria" panose="02040503050406030204" pitchFamily="34" charset="-120"/>
              </a:rPr>
              <a:t>Frequency law</a:t>
            </a:r>
            <a:endParaRPr lang="en-US" sz="1700" dirty="0"/>
          </a:p>
        </p:txBody>
      </p:sp>
      <p:sp>
        <p:nvSpPr>
          <p:cNvPr id="17" name="Text 15"/>
          <p:cNvSpPr/>
          <p:nvPr/>
        </p:nvSpPr>
        <p:spPr>
          <a:xfrm>
            <a:off x="4526280" y="3383280"/>
            <a:ext cx="3108960" cy="457200"/>
          </a:xfrm>
          <a:prstGeom prst="rect">
            <a:avLst/>
          </a:prstGeom>
          <a:noFill/>
        </p:spPr>
        <p:txBody>
          <a:bodyPr wrap="square" lIns="0" tIns="0" rIns="0" bIns="0" rtlCol="0" anchor="ctr"/>
          <a:lstStyle/>
          <a:p>
            <a:pPr marL="0" indent="0">
              <a:buNone/>
            </a:pPr>
            <a:r>
              <a:rPr lang="en-US" sz="1400" i="1" dirty="0">
                <a:solidFill>
                  <a:srgbClr val="0E7C7B"/>
                </a:solidFill>
                <a:latin typeface="Cambria" panose="02040503050406030204" pitchFamily="34" charset="0"/>
                <a:ea typeface="Cambria" panose="02040503050406030204" pitchFamily="34" charset="-122"/>
                <a:cs typeface="Cambria" panose="02040503050406030204" pitchFamily="34" charset="-120"/>
              </a:rPr>
              <a:t>PL(k·f) − PL(f) = 20·log₁₀(k)</a:t>
            </a:r>
            <a:endParaRPr lang="en-US" sz="1400" dirty="0"/>
          </a:p>
        </p:txBody>
      </p:sp>
      <p:sp>
        <p:nvSpPr>
          <p:cNvPr id="18" name="Text 16"/>
          <p:cNvSpPr/>
          <p:nvPr/>
        </p:nvSpPr>
        <p:spPr>
          <a:xfrm>
            <a:off x="4526280" y="3931920"/>
            <a:ext cx="3108960" cy="1143000"/>
          </a:xfrm>
          <a:prstGeom prst="rect">
            <a:avLst/>
          </a:prstGeom>
          <a:noFill/>
        </p:spPr>
        <p:txBody>
          <a:bodyPr wrap="square" lIns="0" tIns="0" rIns="0" bIns="0" rtlCol="0" anchor="t"/>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Scaling the carrier frequency by k (1.25) must add exactly 20·log₁₀ k dB.</a:t>
            </a:r>
            <a:endParaRPr lang="en-US" sz="1300" dirty="0"/>
          </a:p>
        </p:txBody>
      </p:sp>
      <p:sp>
        <p:nvSpPr>
          <p:cNvPr id="19" name="Shape 17"/>
          <p:cNvSpPr/>
          <p:nvPr/>
        </p:nvSpPr>
        <p:spPr>
          <a:xfrm>
            <a:off x="8046720" y="2651760"/>
            <a:ext cx="3474720" cy="2514600"/>
          </a:xfrm>
          <a:prstGeom prst="roundRect">
            <a:avLst>
              <a:gd name="adj" fmla="val 2909"/>
            </a:avLst>
          </a:prstGeom>
          <a:solidFill>
            <a:srgbClr val="FFFFFF"/>
          </a:solidFill>
          <a:ln w="12700">
            <a:solidFill>
              <a:srgbClr val="D0D4D9"/>
            </a:solidFill>
            <a:prstDash val="solid"/>
          </a:ln>
        </p:spPr>
      </p:sp>
      <p:sp>
        <p:nvSpPr>
          <p:cNvPr id="20" name="Shape 18"/>
          <p:cNvSpPr/>
          <p:nvPr/>
        </p:nvSpPr>
        <p:spPr>
          <a:xfrm>
            <a:off x="8229600" y="2834640"/>
            <a:ext cx="384048" cy="384048"/>
          </a:xfrm>
          <a:prstGeom prst="ellipse">
            <a:avLst/>
          </a:prstGeom>
          <a:solidFill>
            <a:srgbClr val="0E7C7B"/>
          </a:solidFill>
        </p:spPr>
      </p:sp>
      <p:sp>
        <p:nvSpPr>
          <p:cNvPr id="21" name="Text 19"/>
          <p:cNvSpPr/>
          <p:nvPr/>
        </p:nvSpPr>
        <p:spPr>
          <a:xfrm>
            <a:off x="8229600" y="2834640"/>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22" name="Text 20"/>
          <p:cNvSpPr/>
          <p:nvPr/>
        </p:nvSpPr>
        <p:spPr>
          <a:xfrm>
            <a:off x="8732520" y="2834640"/>
            <a:ext cx="2606040" cy="384048"/>
          </a:xfrm>
          <a:prstGeom prst="rect">
            <a:avLst/>
          </a:prstGeom>
          <a:noFill/>
        </p:spPr>
        <p:txBody>
          <a:bodyPr wrap="square" lIns="0" tIns="0" rIns="0" bIns="0" rtlCol="0" anchor="ctr"/>
          <a:lstStyle/>
          <a:p>
            <a:pPr marL="0" indent="0">
              <a:buNone/>
            </a:pPr>
            <a:r>
              <a:rPr lang="en-US" sz="1700" b="1" dirty="0">
                <a:solidFill>
                  <a:srgbClr val="000000"/>
                </a:solidFill>
                <a:latin typeface="Cambria" panose="02040503050406030204" pitchFamily="34" charset="0"/>
                <a:ea typeface="Cambria" panose="02040503050406030204" pitchFamily="34" charset="-122"/>
                <a:cs typeface="Cambria" panose="02040503050406030204" pitchFamily="34" charset="-120"/>
              </a:rPr>
              <a:t>Free-space floor</a:t>
            </a:r>
            <a:endParaRPr lang="en-US" sz="1700" dirty="0"/>
          </a:p>
        </p:txBody>
      </p:sp>
      <p:sp>
        <p:nvSpPr>
          <p:cNvPr id="23" name="Text 21"/>
          <p:cNvSpPr/>
          <p:nvPr/>
        </p:nvSpPr>
        <p:spPr>
          <a:xfrm>
            <a:off x="8229600" y="3383280"/>
            <a:ext cx="3108960" cy="457200"/>
          </a:xfrm>
          <a:prstGeom prst="rect">
            <a:avLst/>
          </a:prstGeom>
          <a:noFill/>
        </p:spPr>
        <p:txBody>
          <a:bodyPr wrap="square" lIns="0" tIns="0" rIns="0" bIns="0" rtlCol="0" anchor="ctr"/>
          <a:lstStyle/>
          <a:p>
            <a:pPr marL="0" indent="0">
              <a:buNone/>
            </a:pPr>
            <a:r>
              <a:rPr lang="en-US" sz="1400" i="1" dirty="0">
                <a:solidFill>
                  <a:srgbClr val="0E7C7B"/>
                </a:solidFill>
                <a:latin typeface="Cambria" panose="02040503050406030204" pitchFamily="34" charset="0"/>
                <a:ea typeface="Cambria" panose="02040503050406030204" pitchFamily="34" charset="-122"/>
                <a:cs typeface="Cambria" panose="02040503050406030204" pitchFamily="34" charset="-120"/>
              </a:rPr>
              <a:t>PL  ≥  FSPL(d, f)</a:t>
            </a:r>
            <a:endParaRPr lang="en-US" sz="1400" dirty="0"/>
          </a:p>
        </p:txBody>
      </p:sp>
      <p:sp>
        <p:nvSpPr>
          <p:cNvPr id="24" name="Text 22"/>
          <p:cNvSpPr/>
          <p:nvPr/>
        </p:nvSpPr>
        <p:spPr>
          <a:xfrm>
            <a:off x="8229600" y="3931920"/>
            <a:ext cx="3108960" cy="1143000"/>
          </a:xfrm>
          <a:prstGeom prst="rect">
            <a:avLst/>
          </a:prstGeom>
          <a:noFill/>
        </p:spPr>
        <p:txBody>
          <a:bodyPr wrap="square" lIns="0" tIns="0" rIns="0" bIns="0" rtlCol="0" anchor="t"/>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Predicted loss may never fall below free-space loss. The penalty applies only when this is violated.</a:t>
            </a:r>
            <a:endParaRPr lang="en-US" sz="1300" dirty="0"/>
          </a:p>
        </p:txBody>
      </p:sp>
      <p:sp>
        <p:nvSpPr>
          <p:cNvPr id="25" name="Text 23"/>
          <p:cNvSpPr/>
          <p:nvPr/>
        </p:nvSpPr>
        <p:spPr>
          <a:xfrm>
            <a:off x="640080" y="5440680"/>
            <a:ext cx="10881360" cy="685800"/>
          </a:xfrm>
          <a:prstGeom prst="rect">
            <a:avLst/>
          </a:prstGeom>
          <a:noFill/>
        </p:spPr>
        <p:txBody>
          <a:bodyPr wrap="square" lIns="0" tIns="0" rIns="0" bIns="0" rtlCol="0" anchor="t"/>
          <a:lstStyle/>
          <a:p>
            <a:pPr marL="0" indent="0">
              <a:buNone/>
            </a:pPr>
            <a:r>
              <a:rPr lang="en-US" sz="1400" dirty="0">
                <a:solidFill>
                  <a:srgbClr val="444444"/>
                </a:solidFill>
                <a:latin typeface="Calibri" panose="020F0502020204030204" pitchFamily="34" charset="0"/>
                <a:ea typeface="Calibri" panose="020F0502020204030204" pitchFamily="34" charset="-122"/>
                <a:cs typeface="Calibri" panose="020F0502020204030204" pitchFamily="34" charset="-120"/>
              </a:rPr>
              <a:t>The physics loss is averaged over 64 random unlabelled points per epoch across the whole operating domain, so physical guidance reaches regions where no data exists.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Digital Twin: Interactive Implementation</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A virtual UAV, ground station and channel that respond instantly to any scenario</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pic>
        <p:nvPicPr>
          <p:cNvPr id="6" name="Image 0" descr="/home/claude/twin_scene.png"/>
          <p:cNvPicPr>
            <a:picLocks noChangeAspect="1"/>
          </p:cNvPicPr>
          <p:nvPr/>
        </p:nvPicPr>
        <p:blipFill>
          <a:blip r:embed="rId1"/>
          <a:stretch>
            <a:fillRect/>
          </a:stretch>
        </p:blipFill>
        <p:spPr>
          <a:xfrm>
            <a:off x="640080" y="1645920"/>
            <a:ext cx="7589520" cy="3735000"/>
          </a:xfrm>
          <a:prstGeom prst="rect">
            <a:avLst/>
          </a:prstGeom>
        </p:spPr>
      </p:pic>
      <p:pic>
        <p:nvPicPr>
          <p:cNvPr id="7" name="Image 1" descr="/home/claude/twin_readout.png"/>
          <p:cNvPicPr>
            <a:picLocks noChangeAspect="1"/>
          </p:cNvPicPr>
          <p:nvPr/>
        </p:nvPicPr>
        <p:blipFill>
          <a:blip r:embed="rId2"/>
          <a:stretch>
            <a:fillRect/>
          </a:stretch>
        </p:blipFill>
        <p:spPr>
          <a:xfrm>
            <a:off x="8641080" y="1508760"/>
            <a:ext cx="2606040" cy="4862015"/>
          </a:xfrm>
          <a:prstGeom prst="rect">
            <a:avLst/>
          </a:prstGeom>
        </p:spPr>
      </p:pic>
      <p:sp>
        <p:nvSpPr>
          <p:cNvPr id="8" name="Text 4"/>
          <p:cNvSpPr/>
          <p:nvPr/>
        </p:nvSpPr>
        <p:spPr>
          <a:xfrm>
            <a:off x="640080" y="5440680"/>
            <a:ext cx="7772400" cy="960120"/>
          </a:xfrm>
          <a:prstGeom prst="rect">
            <a:avLst/>
          </a:prstGeom>
          <a:noFill/>
        </p:spPr>
        <p:txBody>
          <a:bodyPr wrap="square" lIns="0" tIns="0" rIns="0" bIns="0" rtlCol="0" anchor="t"/>
          <a:lstStyle/>
          <a:p>
            <a:pPr marL="342900" indent="-342900">
              <a:spcAft>
                <a:spcPts val="200"/>
              </a:spcAft>
              <a:buSzPct val="100000"/>
              <a:buChar char="•"/>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Drag the drone or use sliders: altitude, distance, frequency, transmit power</a:t>
            </a:r>
            <a:endParaRPr lang="en-US" sz="1250" dirty="0"/>
          </a:p>
          <a:p>
            <a:pPr marL="342900" indent="-342900">
              <a:spcAft>
                <a:spcPts val="200"/>
              </a:spcAft>
              <a:buSzPct val="100000"/>
              <a:buChar char="•"/>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Switch the predictor: PI-DNN · DNN · Simulator (ground truth)</a:t>
            </a:r>
            <a:endParaRPr lang="en-US" sz="1250" dirty="0"/>
          </a:p>
          <a:p>
            <a:pPr marL="342900" indent="-342900">
              <a:spcAft>
                <a:spcPts val="200"/>
              </a:spcAft>
              <a:buSzPct val="100000"/>
              <a:buChar char="•"/>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Live readout: path loss, received power, elevation angle, LoS probability, model error</a:t>
            </a:r>
            <a:endParaRPr lang="en-US" sz="1250" dirty="0"/>
          </a:p>
          <a:p>
            <a:pPr marL="342900" indent="-342900">
              <a:spcAft>
                <a:spcPts val="200"/>
              </a:spcAft>
              <a:buSzPct val="100000"/>
              <a:buChar char="•"/>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Link quality: Good &gt; −80 dBm  ·  Fair −90 to −80 dBm  ·  Poor &lt; −90 dBm</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Digital Twin: Worked Example</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The XX placeholders from Review 1 are now real predicted values</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graphicFrame>
        <p:nvGraphicFramePr>
          <p:cNvPr id="9" name="Table 0"/>
          <p:cNvGraphicFramePr>
            <a:graphicFrameLocks noGrp="1"/>
          </p:cNvGraphicFramePr>
          <p:nvPr/>
        </p:nvGraphicFramePr>
        <p:xfrm>
          <a:off x="640080" y="1691640"/>
          <a:ext cx="3291840" cy="1828800"/>
        </p:xfrm>
        <a:graphic>
          <a:graphicData uri="http://schemas.openxmlformats.org/drawingml/2006/table">
            <a:tbl>
              <a:tblPr/>
              <a:tblGrid>
                <a:gridCol w="1920240"/>
                <a:gridCol w="1371600"/>
              </a:tblGrid>
              <a:tr h="365760">
                <a:tc gridSpan="2">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Scenario input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hMerge="1">
                  <a:tcPr/>
                </a:tc>
              </a:tr>
              <a:tr h="365760">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UAV altitude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100 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65760">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Horizontal distance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500 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65760">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Frequency</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2.4 GHz</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65760">
                <a:tc>
                  <a:txBody>
                    <a:bodyPr/>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Transmit power</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20 dBm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
        <p:nvSpPr>
          <p:cNvPr id="7" name="Shape 4"/>
          <p:cNvSpPr/>
          <p:nvPr/>
        </p:nvSpPr>
        <p:spPr>
          <a:xfrm>
            <a:off x="4297680" y="1691640"/>
            <a:ext cx="2286000" cy="1828800"/>
          </a:xfrm>
          <a:prstGeom prst="roundRect">
            <a:avLst>
              <a:gd name="adj" fmla="val 4000"/>
            </a:avLst>
          </a:prstGeom>
          <a:solidFill>
            <a:srgbClr val="FFFFFF"/>
          </a:solidFill>
          <a:ln w="12700">
            <a:solidFill>
              <a:srgbClr val="D0D4D9"/>
            </a:solidFill>
            <a:prstDash val="solid"/>
          </a:ln>
        </p:spPr>
      </p:sp>
      <p:sp>
        <p:nvSpPr>
          <p:cNvPr id="8" name="Text 5"/>
          <p:cNvSpPr/>
          <p:nvPr/>
        </p:nvSpPr>
        <p:spPr>
          <a:xfrm>
            <a:off x="4297680" y="1920240"/>
            <a:ext cx="2286000" cy="822960"/>
          </a:xfrm>
          <a:prstGeom prst="rect">
            <a:avLst/>
          </a:prstGeom>
          <a:noFill/>
        </p:spPr>
        <p:txBody>
          <a:bodyPr wrap="square" lIns="0" tIns="0" rIns="0" bIns="0" rtlCol="0" anchor="ctr"/>
          <a:lstStyle/>
          <a:p>
            <a:pPr marL="0" indent="0" algn="ctr">
              <a:buNone/>
            </a:pPr>
            <a:r>
              <a:rPr lang="en-US" sz="3000" b="1" dirty="0">
                <a:solidFill>
                  <a:srgbClr val="0E7C7B"/>
                </a:solidFill>
                <a:latin typeface="Cambria" panose="02040503050406030204" pitchFamily="34" charset="0"/>
                <a:ea typeface="Cambria" panose="02040503050406030204" pitchFamily="34" charset="-122"/>
                <a:cs typeface="Cambria" panose="02040503050406030204" pitchFamily="34" charset="-120"/>
              </a:rPr>
              <a:t>99.0 dB</a:t>
            </a:r>
            <a:endParaRPr lang="en-US" sz="3000" dirty="0"/>
          </a:p>
        </p:txBody>
      </p:sp>
      <p:sp>
        <p:nvSpPr>
          <p:cNvPr id="6" name="Text 6"/>
          <p:cNvSpPr/>
          <p:nvPr/>
        </p:nvSpPr>
        <p:spPr>
          <a:xfrm>
            <a:off x="4434840" y="2788920"/>
            <a:ext cx="2011680" cy="594360"/>
          </a:xfrm>
          <a:prstGeom prst="rect">
            <a:avLst/>
          </a:prstGeom>
          <a:noFill/>
        </p:spPr>
        <p:txBody>
          <a:bodyPr wrap="square" lIns="0" tIns="0" rIns="0" bIns="0" rtlCol="0" anchor="t"/>
          <a:lstStyle/>
          <a:p>
            <a:pPr marL="0" indent="0" algn="ctr">
              <a:buNone/>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Predicted path loss (PI-DNN)</a:t>
            </a:r>
            <a:endParaRPr lang="en-US" sz="1250" dirty="0"/>
          </a:p>
        </p:txBody>
      </p:sp>
      <p:sp>
        <p:nvSpPr>
          <p:cNvPr id="10" name="Shape 7"/>
          <p:cNvSpPr/>
          <p:nvPr/>
        </p:nvSpPr>
        <p:spPr>
          <a:xfrm>
            <a:off x="6766560" y="1691640"/>
            <a:ext cx="2286000" cy="1828800"/>
          </a:xfrm>
          <a:prstGeom prst="roundRect">
            <a:avLst>
              <a:gd name="adj" fmla="val 4000"/>
            </a:avLst>
          </a:prstGeom>
          <a:solidFill>
            <a:srgbClr val="FFFFFF"/>
          </a:solidFill>
          <a:ln w="12700">
            <a:solidFill>
              <a:srgbClr val="D0D4D9"/>
            </a:solidFill>
            <a:prstDash val="solid"/>
          </a:ln>
        </p:spPr>
      </p:sp>
      <p:sp>
        <p:nvSpPr>
          <p:cNvPr id="11" name="Text 8"/>
          <p:cNvSpPr/>
          <p:nvPr/>
        </p:nvSpPr>
        <p:spPr>
          <a:xfrm>
            <a:off x="6766560" y="1920240"/>
            <a:ext cx="2286000" cy="822960"/>
          </a:xfrm>
          <a:prstGeom prst="rect">
            <a:avLst/>
          </a:prstGeom>
          <a:noFill/>
        </p:spPr>
        <p:txBody>
          <a:bodyPr wrap="square" lIns="0" tIns="0" rIns="0" bIns="0" rtlCol="0" anchor="ctr"/>
          <a:lstStyle/>
          <a:p>
            <a:pPr marL="0" indent="0" algn="ctr">
              <a:buNone/>
            </a:pPr>
            <a:r>
              <a:rPr lang="en-US" sz="3000" b="1" dirty="0">
                <a:solidFill>
                  <a:srgbClr val="0E7C7B"/>
                </a:solidFill>
                <a:latin typeface="Cambria" panose="02040503050406030204" pitchFamily="34" charset="0"/>
                <a:ea typeface="Cambria" panose="02040503050406030204" pitchFamily="34" charset="-122"/>
                <a:cs typeface="Cambria" panose="02040503050406030204" pitchFamily="34" charset="-120"/>
              </a:rPr>
              <a:t>−79.0 dBm</a:t>
            </a:r>
            <a:endParaRPr lang="en-US" sz="3000" dirty="0"/>
          </a:p>
        </p:txBody>
      </p:sp>
      <p:sp>
        <p:nvSpPr>
          <p:cNvPr id="12" name="Text 9"/>
          <p:cNvSpPr/>
          <p:nvPr/>
        </p:nvSpPr>
        <p:spPr>
          <a:xfrm>
            <a:off x="6903720" y="2788920"/>
            <a:ext cx="2011680" cy="594360"/>
          </a:xfrm>
          <a:prstGeom prst="rect">
            <a:avLst/>
          </a:prstGeom>
          <a:noFill/>
        </p:spPr>
        <p:txBody>
          <a:bodyPr wrap="square" lIns="0" tIns="0" rIns="0" bIns="0" rtlCol="0" anchor="t"/>
          <a:lstStyle/>
          <a:p>
            <a:pPr marL="0" indent="0" algn="ctr">
              <a:buNone/>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Received power</a:t>
            </a:r>
            <a:endParaRPr lang="en-US" sz="1250" dirty="0"/>
          </a:p>
        </p:txBody>
      </p:sp>
      <p:sp>
        <p:nvSpPr>
          <p:cNvPr id="13" name="Shape 10"/>
          <p:cNvSpPr/>
          <p:nvPr/>
        </p:nvSpPr>
        <p:spPr>
          <a:xfrm>
            <a:off x="9235440" y="1691640"/>
            <a:ext cx="2286000" cy="1828800"/>
          </a:xfrm>
          <a:prstGeom prst="roundRect">
            <a:avLst>
              <a:gd name="adj" fmla="val 4000"/>
            </a:avLst>
          </a:prstGeom>
          <a:solidFill>
            <a:srgbClr val="E6F3F2"/>
          </a:solidFill>
          <a:ln w="12700">
            <a:solidFill>
              <a:srgbClr val="0E7C7B"/>
            </a:solidFill>
            <a:prstDash val="solid"/>
          </a:ln>
        </p:spPr>
      </p:sp>
      <p:sp>
        <p:nvSpPr>
          <p:cNvPr id="14" name="Text 11"/>
          <p:cNvSpPr/>
          <p:nvPr/>
        </p:nvSpPr>
        <p:spPr>
          <a:xfrm>
            <a:off x="9235440" y="1920240"/>
            <a:ext cx="2286000" cy="822960"/>
          </a:xfrm>
          <a:prstGeom prst="rect">
            <a:avLst/>
          </a:prstGeom>
          <a:noFill/>
        </p:spPr>
        <p:txBody>
          <a:bodyPr wrap="square" lIns="0" tIns="0" rIns="0" bIns="0" rtlCol="0" anchor="ctr"/>
          <a:lstStyle/>
          <a:p>
            <a:pPr marL="0" indent="0" algn="ctr">
              <a:buNone/>
            </a:pPr>
            <a:r>
              <a:rPr lang="en-US" sz="3000" b="1" dirty="0">
                <a:solidFill>
                  <a:srgbClr val="0E7C7B"/>
                </a:solidFill>
                <a:latin typeface="Cambria" panose="02040503050406030204" pitchFamily="34" charset="0"/>
                <a:ea typeface="Cambria" panose="02040503050406030204" pitchFamily="34" charset="-122"/>
                <a:cs typeface="Cambria" panose="02040503050406030204" pitchFamily="34" charset="-120"/>
              </a:rPr>
              <a:t>Good</a:t>
            </a:r>
            <a:endParaRPr lang="en-US" sz="3000" dirty="0"/>
          </a:p>
        </p:txBody>
      </p:sp>
      <p:sp>
        <p:nvSpPr>
          <p:cNvPr id="15" name="Text 12"/>
          <p:cNvSpPr/>
          <p:nvPr/>
        </p:nvSpPr>
        <p:spPr>
          <a:xfrm>
            <a:off x="9372600" y="2788920"/>
            <a:ext cx="2011680" cy="594360"/>
          </a:xfrm>
          <a:prstGeom prst="rect">
            <a:avLst/>
          </a:prstGeom>
          <a:noFill/>
        </p:spPr>
        <p:txBody>
          <a:bodyPr wrap="square" lIns="0" tIns="0" rIns="0" bIns="0" rtlCol="0" anchor="t"/>
          <a:lstStyle/>
          <a:p>
            <a:pPr marL="0" indent="0" algn="ctr">
              <a:buNone/>
            </a:pPr>
            <a:r>
              <a:rPr lang="en-US" sz="1250" dirty="0">
                <a:solidFill>
                  <a:srgbClr val="444444"/>
                </a:solidFill>
                <a:latin typeface="Calibri" panose="020F0502020204030204" pitchFamily="34" charset="0"/>
                <a:ea typeface="Calibri" panose="020F0502020204030204" pitchFamily="34" charset="-122"/>
                <a:cs typeface="Calibri" panose="020F0502020204030204" pitchFamily="34" charset="-120"/>
              </a:rPr>
              <a:t>Link quality (&gt; −80 dBm)</a:t>
            </a:r>
            <a:endParaRPr lang="en-US" sz="1250" dirty="0"/>
          </a:p>
        </p:txBody>
      </p:sp>
      <p:sp>
        <p:nvSpPr>
          <p:cNvPr id="16" name="Text 13"/>
          <p:cNvSpPr/>
          <p:nvPr/>
        </p:nvSpPr>
        <p:spPr>
          <a:xfrm>
            <a:off x="640080" y="3749040"/>
            <a:ext cx="10881360" cy="320040"/>
          </a:xfrm>
          <a:prstGeom prst="rect">
            <a:avLst/>
          </a:prstGeom>
          <a:noFill/>
        </p:spPr>
        <p:txBody>
          <a:bodyPr wrap="square" lIns="0" tIns="0" rIns="0" bIns="0" rtlCol="0" anchor="ctr"/>
          <a:lstStyle/>
          <a:p>
            <a:pPr marL="0" indent="0">
              <a:buNone/>
            </a:pPr>
            <a:r>
              <a:rPr lang="en-US" sz="1500" b="1" dirty="0">
                <a:solidFill>
                  <a:srgbClr val="000000"/>
                </a:solidFill>
                <a:latin typeface="Calibri" panose="020F0502020204030204" pitchFamily="34" charset="0"/>
                <a:ea typeface="Calibri" panose="020F0502020204030204" pitchFamily="34" charset="-122"/>
                <a:cs typeface="Calibri" panose="020F0502020204030204" pitchFamily="34" charset="-120"/>
              </a:rPr>
              <a:t>What if the altitude changes?   (r = 500 m, f = 2.4 GHz, transmit power = 20 dBm)</a:t>
            </a:r>
            <a:endParaRPr lang="en-US" sz="1500" dirty="0"/>
          </a:p>
        </p:txBody>
      </p:sp>
      <p:graphicFrame>
        <p:nvGraphicFramePr>
          <p:cNvPr id="17" name="Table 1"/>
          <p:cNvGraphicFramePr>
            <a:graphicFrameLocks noGrp="1"/>
          </p:cNvGraphicFramePr>
          <p:nvPr/>
        </p:nvGraphicFramePr>
        <p:xfrm>
          <a:off x="640080" y="4114800"/>
          <a:ext cx="10881360" cy="1645920"/>
        </p:xfrm>
        <a:graphic>
          <a:graphicData uri="http://schemas.openxmlformats.org/drawingml/2006/table">
            <a:tbl>
              <a:tblPr/>
              <a:tblGrid>
                <a:gridCol w="1463040"/>
                <a:gridCol w="1737360"/>
                <a:gridCol w="1463040"/>
                <a:gridCol w="1645920"/>
                <a:gridCol w="2743200"/>
                <a:gridCol w="1828800"/>
              </a:tblGrid>
              <a:tr h="329184">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Altitude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Simulator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DNN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PI-DNN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PI-DNN received power</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Link</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r h="329184">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50 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110.3</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112.1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111.1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−91.1 dBm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B3261E"/>
                          </a:solidFill>
                          <a:latin typeface="Calibri" panose="020F0502020204030204" pitchFamily="34" charset="0"/>
                          <a:ea typeface="Calibri" panose="020F0502020204030204" pitchFamily="34" charset="-122"/>
                          <a:cs typeface="Calibri" panose="020F0502020204030204" pitchFamily="34" charset="-120"/>
                        </a:rPr>
                        <a:t>Poor</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29184">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100 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99.2</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100.0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99.0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−79.0 dBm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Good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29184">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150 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95.1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94.7</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94.7</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−74.7 dBm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Good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29184">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200 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94.8</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96.3</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94.5</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−74.5 dBm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Good</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
        <p:nvSpPr>
          <p:cNvPr id="18" name="Text 14"/>
          <p:cNvSpPr/>
          <p:nvPr/>
        </p:nvSpPr>
        <p:spPr>
          <a:xfrm>
            <a:off x="640080" y="5897880"/>
            <a:ext cx="10881360" cy="457200"/>
          </a:xfrm>
          <a:prstGeom prst="rect">
            <a:avLst/>
          </a:prstGeom>
          <a:noFill/>
        </p:spPr>
        <p:txBody>
          <a:bodyPr wrap="square" lIns="0" tIns="0" rIns="0" bIns="0" rtlCol="0" anchor="ctr"/>
          <a:lstStyle/>
          <a:p>
            <a:pPr marL="0" indent="0">
              <a:buNone/>
            </a:pPr>
            <a:r>
              <a:rPr lang="en-US" sz="1350" i="1" dirty="0">
                <a:solidFill>
                  <a:srgbClr val="444444"/>
                </a:solidFill>
                <a:latin typeface="Calibri" panose="020F0502020204030204" pitchFamily="34" charset="0"/>
                <a:ea typeface="Calibri" panose="020F0502020204030204" pitchFamily="34" charset="-122"/>
                <a:cs typeface="Calibri" panose="020F0502020204030204" pitchFamily="34" charset="-120"/>
              </a:rPr>
              <a:t>At 50 m the elevation angle is only about 5.7°, more paths are blocked, and the link drops to Poor. The twin finds this without a single flight.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Training Behaviour</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Similar data fit, but the physics loss is driven down in the PI-DNN</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9</a:t>
            </a:r>
            <a:endParaRPr lang="en-US" sz="900" dirty="0"/>
          </a:p>
        </p:txBody>
      </p:sp>
      <p:pic>
        <p:nvPicPr>
          <p:cNvPr id="6" name="Image 0" descr="/home/claude/fig_loss.png"/>
          <p:cNvPicPr>
            <a:picLocks noChangeAspect="1"/>
          </p:cNvPicPr>
          <p:nvPr/>
        </p:nvPicPr>
        <p:blipFill>
          <a:blip r:embed="rId1"/>
          <a:stretch>
            <a:fillRect/>
          </a:stretch>
        </p:blipFill>
        <p:spPr>
          <a:xfrm>
            <a:off x="640080" y="1645920"/>
            <a:ext cx="6949440" cy="4227153"/>
          </a:xfrm>
          <a:prstGeom prst="rect">
            <a:avLst/>
          </a:prstGeom>
        </p:spPr>
      </p:pic>
      <p:sp>
        <p:nvSpPr>
          <p:cNvPr id="7" name="Shape 4"/>
          <p:cNvSpPr/>
          <p:nvPr/>
        </p:nvSpPr>
        <p:spPr>
          <a:xfrm>
            <a:off x="8001000" y="1691640"/>
            <a:ext cx="54864" cy="960120"/>
          </a:xfrm>
          <a:prstGeom prst="rect">
            <a:avLst/>
          </a:prstGeom>
          <a:solidFill>
            <a:srgbClr val="888888"/>
          </a:solidFill>
          <a:ln w="12700">
            <a:solidFill>
              <a:srgbClr val="888888"/>
            </a:solidFill>
            <a:prstDash val="solid"/>
          </a:ln>
        </p:spPr>
      </p:sp>
      <p:sp>
        <p:nvSpPr>
          <p:cNvPr id="8" name="Text 5"/>
          <p:cNvSpPr/>
          <p:nvPr/>
        </p:nvSpPr>
        <p:spPr>
          <a:xfrm>
            <a:off x="8229600" y="1691640"/>
            <a:ext cx="3291840" cy="365760"/>
          </a:xfrm>
          <a:prstGeom prst="rect">
            <a:avLst/>
          </a:prstGeom>
          <a:noFill/>
        </p:spPr>
        <p:txBody>
          <a:bodyPr wrap="square" lIns="0" tIns="0" rIns="0" bIns="0" rtlCol="0" anchor="ctr"/>
          <a:lstStyle/>
          <a:p>
            <a:pPr marL="0" indent="0">
              <a:buNone/>
            </a:pPr>
            <a:r>
              <a:rPr lang="en-US" sz="1500" b="1" dirty="0">
                <a:solidFill>
                  <a:srgbClr val="000000"/>
                </a:solidFill>
                <a:latin typeface="Calibri" panose="020F0502020204030204" pitchFamily="34" charset="0"/>
                <a:ea typeface="Calibri" panose="020F0502020204030204" pitchFamily="34" charset="-122"/>
                <a:cs typeface="Calibri" panose="020F0502020204030204" pitchFamily="34" charset="-120"/>
              </a:rPr>
              <a:t>Same starting point</a:t>
            </a:r>
            <a:endParaRPr lang="en-US" sz="1500" dirty="0"/>
          </a:p>
        </p:txBody>
      </p:sp>
      <p:sp>
        <p:nvSpPr>
          <p:cNvPr id="9" name="Text 6"/>
          <p:cNvSpPr/>
          <p:nvPr/>
        </p:nvSpPr>
        <p:spPr>
          <a:xfrm>
            <a:off x="8229600" y="2057400"/>
            <a:ext cx="3291840" cy="640080"/>
          </a:xfrm>
          <a:prstGeom prst="rect">
            <a:avLst/>
          </a:prstGeom>
          <a:noFill/>
        </p:spPr>
        <p:txBody>
          <a:bodyPr wrap="square" lIns="0" tIns="0" rIns="0" bIns="0" rtlCol="0" anchor="t"/>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Both models begin at the same loss (about 162 dB²).</a:t>
            </a:r>
            <a:endParaRPr lang="en-US" sz="1300" dirty="0"/>
          </a:p>
        </p:txBody>
      </p:sp>
      <p:sp>
        <p:nvSpPr>
          <p:cNvPr id="10" name="Shape 7"/>
          <p:cNvSpPr/>
          <p:nvPr/>
        </p:nvSpPr>
        <p:spPr>
          <a:xfrm>
            <a:off x="8001000" y="2880360"/>
            <a:ext cx="54864" cy="960120"/>
          </a:xfrm>
          <a:prstGeom prst="rect">
            <a:avLst/>
          </a:prstGeom>
          <a:solidFill>
            <a:srgbClr val="888888"/>
          </a:solidFill>
          <a:ln w="12700">
            <a:solidFill>
              <a:srgbClr val="888888"/>
            </a:solidFill>
            <a:prstDash val="solid"/>
          </a:ln>
        </p:spPr>
      </p:sp>
      <p:sp>
        <p:nvSpPr>
          <p:cNvPr id="11" name="Text 8"/>
          <p:cNvSpPr/>
          <p:nvPr/>
        </p:nvSpPr>
        <p:spPr>
          <a:xfrm>
            <a:off x="8229600" y="2880360"/>
            <a:ext cx="3291840" cy="365760"/>
          </a:xfrm>
          <a:prstGeom prst="rect">
            <a:avLst/>
          </a:prstGeom>
          <a:noFill/>
        </p:spPr>
        <p:txBody>
          <a:bodyPr wrap="square" lIns="0" tIns="0" rIns="0" bIns="0" rtlCol="0" anchor="ctr"/>
          <a:lstStyle/>
          <a:p>
            <a:pPr marL="0" indent="0">
              <a:buNone/>
            </a:pPr>
            <a:r>
              <a:rPr lang="en-US" sz="1500" b="1" dirty="0">
                <a:solidFill>
                  <a:srgbClr val="000000"/>
                </a:solidFill>
                <a:latin typeface="Calibri" panose="020F0502020204030204" pitchFamily="34" charset="0"/>
                <a:ea typeface="Calibri" panose="020F0502020204030204" pitchFamily="34" charset="-122"/>
                <a:cs typeface="Calibri" panose="020F0502020204030204" pitchFamily="34" charset="-120"/>
              </a:rPr>
              <a:t>Similar data fit</a:t>
            </a:r>
            <a:endParaRPr lang="en-US" sz="1500" dirty="0"/>
          </a:p>
        </p:txBody>
      </p:sp>
      <p:sp>
        <p:nvSpPr>
          <p:cNvPr id="12" name="Text 9"/>
          <p:cNvSpPr/>
          <p:nvPr/>
        </p:nvSpPr>
        <p:spPr>
          <a:xfrm>
            <a:off x="8229600" y="3246120"/>
            <a:ext cx="3291840" cy="640080"/>
          </a:xfrm>
          <a:prstGeom prst="rect">
            <a:avLst/>
          </a:prstGeom>
          <a:noFill/>
        </p:spPr>
        <p:txBody>
          <a:bodyPr wrap="square" lIns="0" tIns="0" rIns="0" bIns="0" rtlCol="0" anchor="t"/>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Final data loss: DNN 2.16 dB², PI-DNN 1.95 dB².</a:t>
            </a:r>
            <a:endParaRPr lang="en-US" sz="1300" dirty="0"/>
          </a:p>
        </p:txBody>
      </p:sp>
      <p:sp>
        <p:nvSpPr>
          <p:cNvPr id="13" name="Shape 10"/>
          <p:cNvSpPr/>
          <p:nvPr/>
        </p:nvSpPr>
        <p:spPr>
          <a:xfrm>
            <a:off x="8001000" y="4069080"/>
            <a:ext cx="54864" cy="960120"/>
          </a:xfrm>
          <a:prstGeom prst="rect">
            <a:avLst/>
          </a:prstGeom>
          <a:solidFill>
            <a:srgbClr val="0E7C7B"/>
          </a:solidFill>
          <a:ln w="12700">
            <a:solidFill>
              <a:srgbClr val="0E7C7B"/>
            </a:solidFill>
            <a:prstDash val="solid"/>
          </a:ln>
        </p:spPr>
      </p:sp>
      <p:sp>
        <p:nvSpPr>
          <p:cNvPr id="14" name="Text 11"/>
          <p:cNvSpPr/>
          <p:nvPr/>
        </p:nvSpPr>
        <p:spPr>
          <a:xfrm>
            <a:off x="8229600" y="4069080"/>
            <a:ext cx="3291840" cy="365760"/>
          </a:xfrm>
          <a:prstGeom prst="rect">
            <a:avLst/>
          </a:prstGeom>
          <a:noFill/>
        </p:spPr>
        <p:txBody>
          <a:bodyPr wrap="square" lIns="0" tIns="0" rIns="0" bIns="0" rtlCol="0" anchor="ctr"/>
          <a:lstStyle/>
          <a:p>
            <a:pPr marL="0" indent="0">
              <a:buNone/>
            </a:pPr>
            <a:r>
              <a:rPr lang="en-US" sz="1500" b="1" dirty="0">
                <a:solidFill>
                  <a:srgbClr val="000000"/>
                </a:solidFill>
                <a:latin typeface="Calibri" panose="020F0502020204030204" pitchFamily="34" charset="0"/>
                <a:ea typeface="Calibri" panose="020F0502020204030204" pitchFamily="34" charset="-122"/>
                <a:cs typeface="Calibri" panose="020F0502020204030204" pitchFamily="34" charset="-120"/>
              </a:rPr>
              <a:t>Physics satisfied</a:t>
            </a:r>
            <a:endParaRPr lang="en-US" sz="1500" dirty="0"/>
          </a:p>
        </p:txBody>
      </p:sp>
      <p:sp>
        <p:nvSpPr>
          <p:cNvPr id="15" name="Text 12"/>
          <p:cNvSpPr/>
          <p:nvPr/>
        </p:nvSpPr>
        <p:spPr>
          <a:xfrm>
            <a:off x="8229600" y="4434840"/>
            <a:ext cx="3291840" cy="640080"/>
          </a:xfrm>
          <a:prstGeom prst="rect">
            <a:avLst/>
          </a:prstGeom>
          <a:noFill/>
        </p:spPr>
        <p:txBody>
          <a:bodyPr wrap="square" lIns="0" tIns="0" rIns="0" bIns="0" rtlCol="0" anchor="t"/>
          <a:lstStyle/>
          <a:p>
            <a:pPr marL="0" indent="0">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PI-DNN physics loss falls from 10.4 to 0.45 dB².</a:t>
            </a:r>
            <a:endParaRPr lang="en-US" sz="1300" dirty="0"/>
          </a:p>
        </p:txBody>
      </p:sp>
      <p:sp>
        <p:nvSpPr>
          <p:cNvPr id="16" name="Text 13"/>
          <p:cNvSpPr/>
          <p:nvPr/>
        </p:nvSpPr>
        <p:spPr>
          <a:xfrm>
            <a:off x="8001000" y="5349240"/>
            <a:ext cx="3520440" cy="822960"/>
          </a:xfrm>
          <a:prstGeom prst="rect">
            <a:avLst/>
          </a:prstGeom>
          <a:noFill/>
        </p:spPr>
        <p:txBody>
          <a:bodyPr wrap="square" lIns="0" tIns="0" rIns="0" bIns="0" rtlCol="0" anchor="t"/>
          <a:lstStyle/>
          <a:p>
            <a:pPr marL="0" indent="0">
              <a:buNone/>
            </a:pPr>
            <a:r>
              <a:rPr lang="en-US" sz="1350" i="1" dirty="0">
                <a:solidFill>
                  <a:srgbClr val="0E7C7B"/>
                </a:solidFill>
                <a:latin typeface="Calibri" panose="020F0502020204030204" pitchFamily="34" charset="0"/>
                <a:ea typeface="Calibri" panose="020F0502020204030204" pitchFamily="34" charset="-122"/>
                <a:cs typeface="Calibri" panose="020F0502020204030204" pitchFamily="34" charset="-120"/>
              </a:rPr>
              <a:t>A similar data fit does not mean similar generalisation. The unseen-point results follow.</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Accuracy: Labelled Region vs Unseen Region</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The physics matters most where there is no labelled data</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10</a:t>
            </a:r>
            <a:endParaRPr lang="en-US" sz="900" dirty="0"/>
          </a:p>
        </p:txBody>
      </p:sp>
      <p:graphicFrame>
        <p:nvGraphicFramePr>
          <p:cNvPr id="11" name="Table 0"/>
          <p:cNvGraphicFramePr>
            <a:graphicFrameLocks noGrp="1"/>
          </p:cNvGraphicFramePr>
          <p:nvPr/>
        </p:nvGraphicFramePr>
        <p:xfrm>
          <a:off x="640080" y="1737360"/>
          <a:ext cx="7406640" cy="3401568"/>
        </p:xfrm>
        <a:graphic>
          <a:graphicData uri="http://schemas.openxmlformats.org/drawingml/2006/table">
            <a:tbl>
              <a:tblPr/>
              <a:tblGrid>
                <a:gridCol w="1554480"/>
                <a:gridCol w="1325880"/>
                <a:gridCol w="1325880"/>
                <a:gridCol w="1600200"/>
                <a:gridCol w="1600200"/>
              </a:tblGrid>
              <a:tr h="566928">
                <a:tc rowSpan="2">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Metric</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gridSpan="2">
                  <a:txBody>
                    <a:bodyPr/>
                    <a:lstStyle/>
                    <a:p>
                      <a:pPr marL="0" indent="0" algn="ct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Labelled region (400 pts)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hMerge="1">
                  <a:tcPr/>
                </a:tc>
                <a:tc gridSpan="2">
                  <a:txBody>
                    <a:bodyPr/>
                    <a:lstStyle/>
                    <a:p>
                      <a:pPr marL="0" indent="0" algn="ct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Unseen region (600 pts)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hMerge="1">
                  <a:tcPr/>
                </a:tc>
              </a:tr>
              <a:tr h="566928">
                <a:tc vMerge="1">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DNN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PI-DNN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lgn="r">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DNN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PI-DNN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r h="566928">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MAE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1.09</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0.86</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D9822B"/>
                          </a:solidFill>
                          <a:latin typeface="Calibri" panose="020F0502020204030204" pitchFamily="34" charset="0"/>
                          <a:ea typeface="Calibri" panose="020F0502020204030204" pitchFamily="34" charset="-122"/>
                          <a:cs typeface="Calibri" panose="020F0502020204030204" pitchFamily="34" charset="-120"/>
                        </a:rPr>
                        <a:t>6.01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0.74</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66928">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MSE (dB²)</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1.92</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1.17</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D9822B"/>
                          </a:solidFill>
                          <a:latin typeface="Calibri" panose="020F0502020204030204" pitchFamily="34" charset="0"/>
                          <a:ea typeface="Calibri" panose="020F0502020204030204" pitchFamily="34" charset="-122"/>
                          <a:cs typeface="Calibri" panose="020F0502020204030204" pitchFamily="34" charset="-120"/>
                        </a:rPr>
                        <a:t>60.41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0.76</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66928">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RMSE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1.39</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1.08</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D9822B"/>
                          </a:solidFill>
                          <a:latin typeface="Calibri" panose="020F0502020204030204" pitchFamily="34" charset="0"/>
                          <a:ea typeface="Calibri" panose="020F0502020204030204" pitchFamily="34" charset="-122"/>
                          <a:cs typeface="Calibri" panose="020F0502020204030204" pitchFamily="34" charset="-120"/>
                        </a:rPr>
                        <a:t>7.77</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0.87</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66928">
                <a:tc>
                  <a:txBody>
                    <a:bodyPr/>
                    <a:lstStyle/>
                    <a:p>
                      <a:pPr marL="0" indent="0">
                        <a:buNone/>
                      </a:pPr>
                      <a:r>
                        <a:rPr lang="en-US" sz="1300" b="1" dirty="0">
                          <a:solidFill>
                            <a:srgbClr val="000000"/>
                          </a:solidFill>
                          <a:latin typeface="Calibri" panose="020F0502020204030204" pitchFamily="34" charset="0"/>
                          <a:ea typeface="Calibri" panose="020F0502020204030204" pitchFamily="34" charset="-122"/>
                          <a:cs typeface="Calibri" panose="020F0502020204030204" pitchFamily="34" charset="-120"/>
                        </a:rPr>
                        <a:t>R² score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0.984</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dirty="0">
                          <a:solidFill>
                            <a:srgbClr val="444444"/>
                          </a:solidFill>
                          <a:latin typeface="Calibri" panose="020F0502020204030204" pitchFamily="34" charset="0"/>
                          <a:ea typeface="Calibri" panose="020F0502020204030204" pitchFamily="34" charset="-122"/>
                          <a:cs typeface="Calibri" panose="020F0502020204030204" pitchFamily="34" charset="-120"/>
                        </a:rPr>
                        <a:t>0.990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D9822B"/>
                          </a:solidFill>
                          <a:latin typeface="Calibri" panose="020F0502020204030204" pitchFamily="34" charset="0"/>
                          <a:ea typeface="Calibri" panose="020F0502020204030204" pitchFamily="34" charset="-122"/>
                          <a:cs typeface="Calibri" panose="020F0502020204030204" pitchFamily="34" charset="-120"/>
                        </a:rPr>
                        <a:t>0.626</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marL="0" indent="0" algn="r">
                        <a:buNone/>
                      </a:pPr>
                      <a:r>
                        <a:rPr lang="en-US" sz="1300" b="1" dirty="0">
                          <a:solidFill>
                            <a:srgbClr val="0E7C7B"/>
                          </a:solidFill>
                          <a:latin typeface="Calibri" panose="020F0502020204030204" pitchFamily="34" charset="0"/>
                          <a:ea typeface="Calibri" panose="020F0502020204030204" pitchFamily="34" charset="-122"/>
                          <a:cs typeface="Calibri" panose="020F0502020204030204" pitchFamily="34" charset="-120"/>
                        </a:rPr>
                        <a:t>0.995</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
        <p:nvSpPr>
          <p:cNvPr id="7" name="Shape 4"/>
          <p:cNvSpPr/>
          <p:nvPr/>
        </p:nvSpPr>
        <p:spPr>
          <a:xfrm>
            <a:off x="8503920" y="1737360"/>
            <a:ext cx="3017520" cy="3383280"/>
          </a:xfrm>
          <a:prstGeom prst="roundRect">
            <a:avLst>
              <a:gd name="adj" fmla="val 2424"/>
            </a:avLst>
          </a:prstGeom>
          <a:solidFill>
            <a:srgbClr val="E6F3F2"/>
          </a:solidFill>
          <a:ln w="12700">
            <a:solidFill>
              <a:srgbClr val="E6F3F2"/>
            </a:solidFill>
            <a:prstDash val="solid"/>
          </a:ln>
        </p:spPr>
      </p:sp>
      <p:sp>
        <p:nvSpPr>
          <p:cNvPr id="8" name="Text 5"/>
          <p:cNvSpPr/>
          <p:nvPr/>
        </p:nvSpPr>
        <p:spPr>
          <a:xfrm>
            <a:off x="8503920" y="2011680"/>
            <a:ext cx="3017520" cy="1097280"/>
          </a:xfrm>
          <a:prstGeom prst="rect">
            <a:avLst/>
          </a:prstGeom>
          <a:noFill/>
        </p:spPr>
        <p:txBody>
          <a:bodyPr wrap="square" lIns="0" tIns="0" rIns="0" bIns="0" rtlCol="0" anchor="ctr"/>
          <a:lstStyle/>
          <a:p>
            <a:pPr marL="0" indent="0" algn="ctr">
              <a:buNone/>
            </a:pPr>
            <a:r>
              <a:rPr lang="en-US" sz="5400" b="1" dirty="0">
                <a:solidFill>
                  <a:srgbClr val="0E7C7B"/>
                </a:solidFill>
                <a:latin typeface="Cambria" panose="02040503050406030204" pitchFamily="34" charset="0"/>
                <a:ea typeface="Cambria" panose="02040503050406030204" pitchFamily="34" charset="-122"/>
                <a:cs typeface="Cambria" panose="02040503050406030204" pitchFamily="34" charset="-120"/>
              </a:rPr>
              <a:t>8.9×</a:t>
            </a:r>
            <a:endParaRPr lang="en-US" sz="5400" dirty="0"/>
          </a:p>
        </p:txBody>
      </p:sp>
      <p:sp>
        <p:nvSpPr>
          <p:cNvPr id="9" name="Text 6"/>
          <p:cNvSpPr/>
          <p:nvPr/>
        </p:nvSpPr>
        <p:spPr>
          <a:xfrm>
            <a:off x="8641080" y="3246120"/>
            <a:ext cx="2743200" cy="731520"/>
          </a:xfrm>
          <a:prstGeom prst="rect">
            <a:avLst/>
          </a:prstGeom>
          <a:noFill/>
        </p:spPr>
        <p:txBody>
          <a:bodyPr wrap="square" lIns="0" tIns="0" rIns="0" bIns="0" rtlCol="0" anchor="t"/>
          <a:lstStyle/>
          <a:p>
            <a:pPr marL="0" indent="0" algn="ctr">
              <a:buNone/>
            </a:pPr>
            <a:r>
              <a:rPr lang="en-US" sz="1400" dirty="0">
                <a:solidFill>
                  <a:srgbClr val="444444"/>
                </a:solidFill>
                <a:latin typeface="Calibri" panose="020F0502020204030204" pitchFamily="34" charset="0"/>
                <a:ea typeface="Calibri" panose="020F0502020204030204" pitchFamily="34" charset="-122"/>
                <a:cs typeface="Calibri" panose="020F0502020204030204" pitchFamily="34" charset="-120"/>
              </a:rPr>
              <a:t>lower RMSE on unseen points</a:t>
            </a:r>
            <a:endParaRPr lang="en-US" sz="1400" dirty="0"/>
          </a:p>
          <a:p>
            <a:pPr marL="0" indent="0" algn="ctr">
              <a:buNone/>
            </a:pPr>
            <a:r>
              <a:rPr lang="en-US" sz="1400" dirty="0">
                <a:solidFill>
                  <a:srgbClr val="444444"/>
                </a:solidFill>
                <a:latin typeface="Calibri" panose="020F0502020204030204" pitchFamily="34" charset="0"/>
                <a:ea typeface="Calibri" panose="020F0502020204030204" pitchFamily="34" charset="-122"/>
                <a:cs typeface="Calibri" panose="020F0502020204030204" pitchFamily="34" charset="-120"/>
              </a:rPr>
              <a:t>7.77 dB → 0.87 dB</a:t>
            </a:r>
            <a:endParaRPr lang="en-US" sz="1400" dirty="0"/>
          </a:p>
        </p:txBody>
      </p:sp>
      <p:sp>
        <p:nvSpPr>
          <p:cNvPr id="10" name="Text 7"/>
          <p:cNvSpPr/>
          <p:nvPr/>
        </p:nvSpPr>
        <p:spPr>
          <a:xfrm>
            <a:off x="8641080" y="4206240"/>
            <a:ext cx="2743200" cy="365760"/>
          </a:xfrm>
          <a:prstGeom prst="rect">
            <a:avLst/>
          </a:prstGeom>
          <a:noFill/>
        </p:spPr>
        <p:txBody>
          <a:bodyPr wrap="square" lIns="0" tIns="0" rIns="0" bIns="0" rtlCol="0" anchor="ctr"/>
          <a:lstStyle/>
          <a:p>
            <a:pPr marL="0" indent="0" algn="ctr">
              <a:buNone/>
            </a:pPr>
            <a:r>
              <a:rPr lang="en-US" sz="1500" b="1" dirty="0">
                <a:solidFill>
                  <a:srgbClr val="000000"/>
                </a:solidFill>
                <a:latin typeface="Calibri" panose="020F0502020204030204" pitchFamily="34" charset="0"/>
                <a:ea typeface="Calibri" panose="020F0502020204030204" pitchFamily="34" charset="-122"/>
                <a:cs typeface="Calibri" panose="020F0502020204030204" pitchFamily="34" charset="-120"/>
              </a:rPr>
              <a:t>R²: 0.626 → 0.995</a:t>
            </a:r>
            <a:endParaRPr lang="en-US" sz="1500" dirty="0"/>
          </a:p>
        </p:txBody>
      </p:sp>
      <p:sp>
        <p:nvSpPr>
          <p:cNvPr id="6" name="Text 8"/>
          <p:cNvSpPr/>
          <p:nvPr/>
        </p:nvSpPr>
        <p:spPr>
          <a:xfrm>
            <a:off x="640080" y="5440680"/>
            <a:ext cx="7406640" cy="822960"/>
          </a:xfrm>
          <a:prstGeom prst="rect">
            <a:avLst/>
          </a:prstGeom>
          <a:noFill/>
        </p:spPr>
        <p:txBody>
          <a:bodyPr wrap="square" lIns="0" tIns="0" rIns="0" bIns="0" rtlCol="0" anchor="t"/>
          <a:lstStyle/>
          <a:p>
            <a:pPr marL="0" indent="0">
              <a:buNone/>
            </a:pPr>
            <a:r>
              <a:rPr lang="en-US" sz="1300" i="1" dirty="0">
                <a:solidFill>
                  <a:srgbClr val="888888"/>
                </a:solidFill>
                <a:latin typeface="Calibri" panose="020F0502020204030204" pitchFamily="34" charset="0"/>
                <a:ea typeface="Calibri" panose="020F0502020204030204" pitchFamily="34" charset="-122"/>
                <a:cs typeface="Calibri" panose="020F0502020204030204" pitchFamily="34" charset="-120"/>
              </a:rPr>
              <a:t>Default run: 150 samples, λ = 1, 1200 epochs, seed 1. Test sets are noise-free. Inside the labelled region both models are accurate; outside it the plain DNN breaks down.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Actual vs Predicted Path Loss on Unseen Points</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Points on the dashed line are perfect predictions</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pic>
        <p:nvPicPr>
          <p:cNvPr id="6" name="Image 0" descr="/home/claude/fig_scatter.png"/>
          <p:cNvPicPr>
            <a:picLocks noChangeAspect="1"/>
          </p:cNvPicPr>
          <p:nvPr/>
        </p:nvPicPr>
        <p:blipFill>
          <a:blip r:embed="rId1"/>
          <a:stretch>
            <a:fillRect/>
          </a:stretch>
        </p:blipFill>
        <p:spPr>
          <a:xfrm>
            <a:off x="1234440" y="1600200"/>
            <a:ext cx="9692640" cy="4458436"/>
          </a:xfrm>
          <a:prstGeom prst="rect">
            <a:avLst/>
          </a:prstGeom>
        </p:spPr>
      </p:pic>
      <p:sp>
        <p:nvSpPr>
          <p:cNvPr id="7" name="Text 4"/>
          <p:cNvSpPr/>
          <p:nvPr/>
        </p:nvSpPr>
        <p:spPr>
          <a:xfrm>
            <a:off x="640080" y="6144768"/>
            <a:ext cx="10881360" cy="274320"/>
          </a:xfrm>
          <a:prstGeom prst="rect">
            <a:avLst/>
          </a:prstGeom>
          <a:noFill/>
        </p:spPr>
        <p:txBody>
          <a:bodyPr wrap="square" lIns="0" tIns="0" rIns="0" bIns="0" rtlCol="0" anchor="ctr"/>
          <a:lstStyle/>
          <a:p>
            <a:pPr marL="0" indent="0" algn="ctr">
              <a:buNone/>
            </a:pPr>
            <a:r>
              <a:rPr lang="en-US" sz="1200" i="1" dirty="0">
                <a:solidFill>
                  <a:srgbClr val="888888"/>
                </a:solidFill>
                <a:latin typeface="Calibri" panose="020F0502020204030204" pitchFamily="34" charset="0"/>
                <a:ea typeface="Calibri" panose="020F0502020204030204" pitchFamily="34" charset="-122"/>
                <a:cs typeface="Calibri" panose="020F0502020204030204" pitchFamily="34" charset="-120"/>
              </a:rPr>
              <a:t>300 of the 600 unseen points are shown; RMSE is computed on all 600. The DNN drifts and overshoots outside the labelled region.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Path Loss Along the Flight Path</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UAV at 100 m altitude, 2.4 GHz, flying outward from 50 m to 2000 m</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pic>
        <p:nvPicPr>
          <p:cNvPr id="6" name="Image 0" descr="/home/claude/fig_path.png"/>
          <p:cNvPicPr>
            <a:picLocks noChangeAspect="1"/>
          </p:cNvPicPr>
          <p:nvPr/>
        </p:nvPicPr>
        <p:blipFill>
          <a:blip r:embed="rId1"/>
          <a:stretch>
            <a:fillRect/>
          </a:stretch>
        </p:blipFill>
        <p:spPr>
          <a:xfrm>
            <a:off x="777240" y="1600200"/>
            <a:ext cx="10607040" cy="4502139"/>
          </a:xfrm>
          <a:prstGeom prst="rect">
            <a:avLst/>
          </a:prstGeom>
        </p:spPr>
      </p:pic>
      <p:sp>
        <p:nvSpPr>
          <p:cNvPr id="7" name="Text 4"/>
          <p:cNvSpPr/>
          <p:nvPr/>
        </p:nvSpPr>
        <p:spPr>
          <a:xfrm>
            <a:off x="640080" y="6144768"/>
            <a:ext cx="10881360" cy="274320"/>
          </a:xfrm>
          <a:prstGeom prst="rect">
            <a:avLst/>
          </a:prstGeom>
          <a:noFill/>
        </p:spPr>
        <p:txBody>
          <a:bodyPr wrap="square" lIns="0" tIns="0" rIns="0" bIns="0" rtlCol="0" anchor="ctr"/>
          <a:lstStyle/>
          <a:p>
            <a:pPr marL="0" indent="0" algn="ctr">
              <a:buNone/>
            </a:pPr>
            <a:r>
              <a:rPr lang="en-US" sz="1200" i="1" dirty="0">
                <a:solidFill>
                  <a:srgbClr val="888888"/>
                </a:solidFill>
                <a:latin typeface="Calibri" panose="020F0502020204030204" pitchFamily="34" charset="0"/>
                <a:ea typeface="Calibri" panose="020F0502020204030204" pitchFamily="34" charset="-122"/>
                <a:cs typeface="Calibri" panose="020F0502020204030204" pitchFamily="34" charset="-120"/>
              </a:rPr>
              <a:t>Both models fit well inside the labelled region. Beyond 800 m the DNN sags below the simulator while the PI-DNN stays close to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Robustness: Six Random Seeds and Physics Weight</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The improvement is consistent, not a lucky run</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13</a:t>
            </a:r>
            <a:endParaRPr lang="en-US" sz="900" dirty="0"/>
          </a:p>
        </p:txBody>
      </p:sp>
      <p:sp>
        <p:nvSpPr>
          <p:cNvPr id="6" name="Text 4"/>
          <p:cNvSpPr/>
          <p:nvPr/>
        </p:nvSpPr>
        <p:spPr>
          <a:xfrm>
            <a:off x="640080" y="1600200"/>
            <a:ext cx="6035040" cy="320040"/>
          </a:xfrm>
          <a:prstGeom prst="rect">
            <a:avLst/>
          </a:prstGeom>
          <a:noFill/>
        </p:spPr>
        <p:txBody>
          <a:bodyPr wrap="square" lIns="0" tIns="0" rIns="0" bIns="0" rtlCol="0" anchor="ctr"/>
          <a:lstStyle/>
          <a:p>
            <a:pPr marL="0" indent="0">
              <a:buNone/>
            </a:pPr>
            <a:r>
              <a:rPr lang="en-US" sz="1400" b="1" dirty="0">
                <a:solidFill>
                  <a:srgbClr val="000000"/>
                </a:solidFill>
                <a:latin typeface="Calibri" panose="020F0502020204030204" pitchFamily="34" charset="0"/>
                <a:ea typeface="Calibri" panose="020F0502020204030204" pitchFamily="34" charset="-122"/>
                <a:cs typeface="Calibri" panose="020F0502020204030204" pitchFamily="34" charset="-120"/>
              </a:rPr>
              <a:t>Unseen-point RMSE per seed (dB)</a:t>
            </a:r>
            <a:endParaRPr lang="en-US" sz="1400" dirty="0"/>
          </a:p>
        </p:txBody>
      </p:sp>
      <p:graphicFrame>
        <p:nvGraphicFramePr>
          <p:cNvPr id="7" name="Chart 0"/>
          <p:cNvGraphicFramePr/>
          <p:nvPr/>
        </p:nvGraphicFramePr>
        <p:xfrm>
          <a:off x="548640" y="1920240"/>
          <a:ext cx="6309360" cy="3383280"/>
        </p:xfrm>
        <a:graphic>
          <a:graphicData uri="http://schemas.openxmlformats.org/drawingml/2006/chart">
            <c:chart xmlns:c="http://schemas.openxmlformats.org/drawingml/2006/chart" xmlns:r="http://schemas.openxmlformats.org/officeDocument/2006/relationships" r:id="rId1"/>
          </a:graphicData>
        </a:graphic>
      </p:graphicFrame>
      <p:sp>
        <p:nvSpPr>
          <p:cNvPr id="8" name="Text 5"/>
          <p:cNvSpPr/>
          <p:nvPr/>
        </p:nvSpPr>
        <p:spPr>
          <a:xfrm>
            <a:off x="7132320" y="1600200"/>
            <a:ext cx="4389120" cy="320040"/>
          </a:xfrm>
          <a:prstGeom prst="rect">
            <a:avLst/>
          </a:prstGeom>
          <a:noFill/>
        </p:spPr>
        <p:txBody>
          <a:bodyPr wrap="square" lIns="0" tIns="0" rIns="0" bIns="0" rtlCol="0" anchor="ctr"/>
          <a:lstStyle/>
          <a:p>
            <a:pPr marL="0" indent="0">
              <a:buNone/>
            </a:pPr>
            <a:r>
              <a:rPr lang="en-US" sz="1400" b="1" dirty="0">
                <a:solidFill>
                  <a:srgbClr val="000000"/>
                </a:solidFill>
                <a:latin typeface="Calibri" panose="020F0502020204030204" pitchFamily="34" charset="0"/>
                <a:ea typeface="Calibri" panose="020F0502020204030204" pitchFamily="34" charset="-122"/>
                <a:cs typeface="Calibri" panose="020F0502020204030204" pitchFamily="34" charset="-120"/>
              </a:rPr>
              <a:t>Effect of physics weight λ on unseen RMSE (dB)</a:t>
            </a:r>
            <a:endParaRPr lang="en-US" sz="1400" dirty="0"/>
          </a:p>
        </p:txBody>
      </p:sp>
      <p:graphicFrame>
        <p:nvGraphicFramePr>
          <p:cNvPr id="9" name="Chart 1"/>
          <p:cNvGraphicFramePr/>
          <p:nvPr/>
        </p:nvGraphicFramePr>
        <p:xfrm>
          <a:off x="7040880" y="1920240"/>
          <a:ext cx="4526280" cy="338328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 6"/>
          <p:cNvSpPr/>
          <p:nvPr/>
        </p:nvSpPr>
        <p:spPr>
          <a:xfrm>
            <a:off x="7132320" y="5285232"/>
            <a:ext cx="4389120" cy="274320"/>
          </a:xfrm>
          <a:prstGeom prst="rect">
            <a:avLst/>
          </a:prstGeom>
          <a:noFill/>
        </p:spPr>
        <p:txBody>
          <a:bodyPr wrap="square" lIns="0" tIns="0" rIns="0" bIns="0" rtlCol="0" anchor="ctr"/>
          <a:lstStyle/>
          <a:p>
            <a:pPr marL="0" indent="0">
              <a:buNone/>
            </a:pPr>
            <a:r>
              <a:rPr lang="en-US" sz="1100" i="1" dirty="0">
                <a:solidFill>
                  <a:srgbClr val="888888"/>
                </a:solidFill>
                <a:latin typeface="Calibri" panose="020F0502020204030204" pitchFamily="34" charset="0"/>
                <a:ea typeface="Calibri" panose="020F0502020204030204" pitchFamily="34" charset="-122"/>
                <a:cs typeface="Calibri" panose="020F0502020204030204" pitchFamily="34" charset="-120"/>
              </a:rPr>
              <a:t>Mean over seeds 1–3</a:t>
            </a:r>
            <a:endParaRPr lang="en-US" sz="1100" dirty="0"/>
          </a:p>
        </p:txBody>
      </p:sp>
      <p:sp>
        <p:nvSpPr>
          <p:cNvPr id="11" name="Shape 7"/>
          <p:cNvSpPr/>
          <p:nvPr/>
        </p:nvSpPr>
        <p:spPr>
          <a:xfrm>
            <a:off x="640080" y="5623560"/>
            <a:ext cx="10881360" cy="658368"/>
          </a:xfrm>
          <a:prstGeom prst="roundRect">
            <a:avLst>
              <a:gd name="adj" fmla="val 11111"/>
            </a:avLst>
          </a:prstGeom>
          <a:solidFill>
            <a:srgbClr val="E6F3F2"/>
          </a:solidFill>
          <a:ln w="12700">
            <a:solidFill>
              <a:srgbClr val="E6F3F2"/>
            </a:solidFill>
            <a:prstDash val="solid"/>
          </a:ln>
        </p:spPr>
      </p:sp>
      <p:sp>
        <p:nvSpPr>
          <p:cNvPr id="12" name="Text 8"/>
          <p:cNvSpPr/>
          <p:nvPr/>
        </p:nvSpPr>
        <p:spPr>
          <a:xfrm>
            <a:off x="640080" y="5623560"/>
            <a:ext cx="10881360" cy="658368"/>
          </a:xfrm>
          <a:prstGeom prst="rect">
            <a:avLst/>
          </a:prstGeom>
          <a:noFill/>
        </p:spPr>
        <p:txBody>
          <a:bodyPr wrap="square" lIns="0" tIns="0" rIns="0" bIns="0" rtlCol="0" anchor="ctr"/>
          <a:lstStyle/>
          <a:p>
            <a:pPr marL="0" indent="0" algn="ctr">
              <a:buNone/>
            </a:pPr>
            <a:r>
              <a:rPr lang="en-US" sz="1500" dirty="0">
                <a:solidFill>
                  <a:srgbClr val="444444"/>
                </a:solidFill>
                <a:latin typeface="Calibri" panose="020F0502020204030204" pitchFamily="34" charset="0"/>
                <a:ea typeface="Calibri" panose="020F0502020204030204" pitchFamily="34" charset="-122"/>
                <a:cs typeface="Calibri" panose="020F0502020204030204" pitchFamily="34" charset="-120"/>
              </a:rPr>
              <a:t>Mean unseen RMSE over 6 seeds:  </a:t>
            </a:r>
            <a:r>
              <a:rPr lang="en-US" sz="1500" b="1" dirty="0">
                <a:solidFill>
                  <a:srgbClr val="D9822B"/>
                </a:solidFill>
                <a:latin typeface="Calibri" panose="020F0502020204030204" pitchFamily="34" charset="0"/>
                <a:ea typeface="Calibri" panose="020F0502020204030204" pitchFamily="34" charset="-122"/>
                <a:cs typeface="Calibri" panose="020F0502020204030204" pitchFamily="34" charset="-120"/>
              </a:rPr>
              <a:t>DNN 15.76 dB (σ = 12.02)</a:t>
            </a:r>
            <a:r>
              <a:rPr lang="en-US" sz="1500" dirty="0">
                <a:solidFill>
                  <a:srgbClr val="444444"/>
                </a:solidFill>
                <a:latin typeface="Calibri" panose="020F0502020204030204" pitchFamily="34" charset="0"/>
                <a:ea typeface="Calibri" panose="020F0502020204030204" pitchFamily="34" charset="-122"/>
                <a:cs typeface="Calibri" panose="020F0502020204030204" pitchFamily="34" charset="-120"/>
              </a:rPr>
              <a:t>   vs   </a:t>
            </a:r>
            <a:r>
              <a:rPr lang="en-US" sz="1500" b="1" dirty="0">
                <a:solidFill>
                  <a:srgbClr val="0E7C7B"/>
                </a:solidFill>
                <a:latin typeface="Calibri" panose="020F0502020204030204" pitchFamily="34" charset="0"/>
                <a:ea typeface="Calibri" panose="020F0502020204030204" pitchFamily="34" charset="-122"/>
                <a:cs typeface="Calibri" panose="020F0502020204030204" pitchFamily="34" charset="-120"/>
              </a:rPr>
              <a:t>PI-DNN 0.80 dB (σ = 0.11)</a:t>
            </a:r>
            <a:r>
              <a:rPr lang="en-US" sz="1500" b="1" dirty="0">
                <a:solidFill>
                  <a:srgbClr val="000000"/>
                </a:solidFill>
                <a:latin typeface="Calibri" panose="020F0502020204030204" pitchFamily="34" charset="0"/>
                <a:ea typeface="Calibri" panose="020F0502020204030204" pitchFamily="34" charset="-122"/>
                <a:cs typeface="Calibri" panose="020F0502020204030204" pitchFamily="34" charset="-120"/>
              </a:rPr>
              <a:t>   —   PI-DNN better in 6 of 6 runs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Discussion and Limitations</a:t>
            </a:r>
            <a:endParaRPr lang="en-US" sz="3200" dirty="0"/>
          </a:p>
        </p:txBody>
      </p:sp>
      <p:sp>
        <p:nvSpPr>
          <p:cNvPr id="3" name="Text 1"/>
          <p:cNvSpPr/>
          <p:nvPr/>
        </p:nvSpPr>
        <p:spPr>
          <a:xfrm>
            <a:off x="640080" y="1115568"/>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What the results show, and what they do not yet show</a:t>
            </a:r>
            <a:endParaRPr lang="en-US" sz="1600" dirty="0"/>
          </a:p>
        </p:txBody>
      </p:sp>
      <p:sp>
        <p:nvSpPr>
          <p:cNvPr id="4" name="Text 2"/>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14</a:t>
            </a:r>
            <a:endParaRPr lang="en-US" sz="900" dirty="0"/>
          </a:p>
        </p:txBody>
      </p:sp>
      <p:sp>
        <p:nvSpPr>
          <p:cNvPr id="6" name="Text 4"/>
          <p:cNvSpPr/>
          <p:nvPr/>
        </p:nvSpPr>
        <p:spPr>
          <a:xfrm>
            <a:off x="640080" y="1691640"/>
            <a:ext cx="5303520" cy="365760"/>
          </a:xfrm>
          <a:prstGeom prst="rect">
            <a:avLst/>
          </a:prstGeom>
          <a:noFill/>
        </p:spPr>
        <p:txBody>
          <a:bodyPr wrap="square" lIns="0" tIns="0" rIns="0" bIns="0" rtlCol="0" anchor="ctr"/>
          <a:lstStyle/>
          <a:p>
            <a:pPr marL="0" indent="0">
              <a:buNone/>
            </a:pPr>
            <a:r>
              <a:rPr lang="en-US" sz="1900" b="1" dirty="0">
                <a:solidFill>
                  <a:srgbClr val="0E7C7B"/>
                </a:solidFill>
                <a:latin typeface="Cambria" panose="02040503050406030204" pitchFamily="34" charset="0"/>
                <a:ea typeface="Cambria" panose="02040503050406030204" pitchFamily="34" charset="-122"/>
                <a:cs typeface="Cambria" panose="02040503050406030204" pitchFamily="34" charset="-120"/>
              </a:rPr>
              <a:t>What the results show</a:t>
            </a:r>
            <a:endParaRPr lang="en-US" sz="1900" dirty="0"/>
          </a:p>
        </p:txBody>
      </p:sp>
      <p:sp>
        <p:nvSpPr>
          <p:cNvPr id="7" name="Text 5"/>
          <p:cNvSpPr/>
          <p:nvPr/>
        </p:nvSpPr>
        <p:spPr>
          <a:xfrm>
            <a:off x="640080" y="2148840"/>
            <a:ext cx="5303520" cy="3566160"/>
          </a:xfrm>
          <a:prstGeom prst="rect">
            <a:avLst/>
          </a:prstGeom>
          <a:noFill/>
        </p:spPr>
        <p:txBody>
          <a:bodyPr wrap="square" lIns="0" tIns="0" rIns="0" bIns="0" rtlCol="0" anchor="t"/>
          <a:lstStyle/>
          <a:p>
            <a:pPr marL="342900" indent="-342900">
              <a:spcAft>
                <a:spcPts val="1400"/>
              </a:spcAft>
              <a:buSzPct val="100000"/>
              <a:buChar char="•"/>
            </a:pPr>
            <a:r>
              <a:rPr lang="en-US" sz="1700" dirty="0">
                <a:solidFill>
                  <a:srgbClr val="444444"/>
                </a:solidFill>
                <a:latin typeface="Calibri" panose="020F0502020204030204" pitchFamily="34" charset="0"/>
                <a:ea typeface="Calibri" panose="020F0502020204030204" pitchFamily="34" charset="-122"/>
                <a:cs typeface="Calibri" panose="020F0502020204030204" pitchFamily="34" charset="-120"/>
              </a:rPr>
              <a:t>Inside the labelled region both models are accurate (RMSE 1.39 vs 1.08 dB). Physics helps most where data is missing.</a:t>
            </a:r>
            <a:endParaRPr lang="en-US" sz="1700" dirty="0"/>
          </a:p>
          <a:p>
            <a:pPr marL="342900" indent="-342900">
              <a:spcAft>
                <a:spcPts val="1400"/>
              </a:spcAft>
              <a:buSzPct val="100000"/>
              <a:buChar char="•"/>
            </a:pPr>
            <a:r>
              <a:rPr lang="en-US" sz="1700" dirty="0">
                <a:solidFill>
                  <a:srgbClr val="444444"/>
                </a:solidFill>
                <a:latin typeface="Calibri" panose="020F0502020204030204" pitchFamily="34" charset="0"/>
                <a:ea typeface="Calibri" panose="020F0502020204030204" pitchFamily="34" charset="-122"/>
                <a:cs typeface="Calibri" panose="020F0502020204030204" pitchFamily="34" charset="-120"/>
              </a:rPr>
              <a:t>Outside it the plain DNN is unstable: unseen RMSE ranged from 7 to 40 dB across seeds, against 0.6 to 1.0 dB for the PI-DNN.</a:t>
            </a:r>
            <a:endParaRPr lang="en-US" sz="1700" dirty="0"/>
          </a:p>
          <a:p>
            <a:pPr marL="342900" indent="-342900">
              <a:spcAft>
                <a:spcPts val="1400"/>
              </a:spcAft>
              <a:buSzPct val="100000"/>
              <a:buChar char="•"/>
            </a:pPr>
            <a:r>
              <a:rPr lang="en-US" sz="1700" dirty="0">
                <a:solidFill>
                  <a:srgbClr val="444444"/>
                </a:solidFill>
                <a:latin typeface="Calibri" panose="020F0502020204030204" pitchFamily="34" charset="0"/>
                <a:ea typeface="Calibri" panose="020F0502020204030204" pitchFamily="34" charset="-122"/>
                <a:cs typeface="Calibri" panose="020F0502020204030204" pitchFamily="34" charset="-120"/>
              </a:rPr>
              <a:t>Any λ ≥ 0.1 gives most of the gain; λ from 0.5 to 3 performs similarly, so no delicate tuning is needed.</a:t>
            </a:r>
            <a:endParaRPr lang="en-US" sz="1700" dirty="0"/>
          </a:p>
        </p:txBody>
      </p:sp>
      <p:sp>
        <p:nvSpPr>
          <p:cNvPr id="8" name="Shape 6"/>
          <p:cNvSpPr/>
          <p:nvPr/>
        </p:nvSpPr>
        <p:spPr>
          <a:xfrm>
            <a:off x="6199632" y="1737360"/>
            <a:ext cx="0" cy="4023360"/>
          </a:xfrm>
          <a:prstGeom prst="line">
            <a:avLst/>
          </a:prstGeom>
          <a:noFill/>
          <a:ln w="12700">
            <a:solidFill>
              <a:srgbClr val="D0D4D9"/>
            </a:solidFill>
            <a:prstDash val="solid"/>
          </a:ln>
        </p:spPr>
      </p:sp>
      <p:sp>
        <p:nvSpPr>
          <p:cNvPr id="9" name="Text 7"/>
          <p:cNvSpPr/>
          <p:nvPr/>
        </p:nvSpPr>
        <p:spPr>
          <a:xfrm>
            <a:off x="6446520" y="1691640"/>
            <a:ext cx="5029200" cy="365760"/>
          </a:xfrm>
          <a:prstGeom prst="rect">
            <a:avLst/>
          </a:prstGeom>
          <a:noFill/>
        </p:spPr>
        <p:txBody>
          <a:bodyPr wrap="square" lIns="0" tIns="0" rIns="0" bIns="0" rtlCol="0" anchor="ctr"/>
          <a:lstStyle/>
          <a:p>
            <a:pPr marL="0" indent="0">
              <a:buNone/>
            </a:pPr>
            <a:r>
              <a:rPr lang="en-US" sz="1900" b="1" dirty="0">
                <a:solidFill>
                  <a:srgbClr val="D9822B"/>
                </a:solidFill>
                <a:latin typeface="Cambria" panose="02040503050406030204" pitchFamily="34" charset="0"/>
                <a:ea typeface="Cambria" panose="02040503050406030204" pitchFamily="34" charset="-122"/>
                <a:cs typeface="Cambria" panose="02040503050406030204" pitchFamily="34" charset="-120"/>
              </a:rPr>
              <a:t>Limitations</a:t>
            </a:r>
            <a:endParaRPr lang="en-US" sz="1900" dirty="0"/>
          </a:p>
        </p:txBody>
      </p:sp>
      <p:sp>
        <p:nvSpPr>
          <p:cNvPr id="10" name="Text 8"/>
          <p:cNvSpPr/>
          <p:nvPr/>
        </p:nvSpPr>
        <p:spPr>
          <a:xfrm>
            <a:off x="6446520" y="2148840"/>
            <a:ext cx="5074920" cy="3566160"/>
          </a:xfrm>
          <a:prstGeom prst="rect">
            <a:avLst/>
          </a:prstGeom>
          <a:noFill/>
        </p:spPr>
        <p:txBody>
          <a:bodyPr wrap="square" lIns="0" tIns="0" rIns="0" bIns="0" rtlCol="0" anchor="t"/>
          <a:lstStyle/>
          <a:p>
            <a:pPr marL="342900" indent="-342900">
              <a:spcAft>
                <a:spcPts val="1400"/>
              </a:spcAft>
              <a:buSzPct val="100000"/>
              <a:buChar char="•"/>
            </a:pPr>
            <a:r>
              <a:rPr lang="en-US" sz="1700" dirty="0">
                <a:solidFill>
                  <a:srgbClr val="444444"/>
                </a:solidFill>
                <a:latin typeface="Calibri" panose="020F0502020204030204" pitchFamily="34" charset="0"/>
                <a:ea typeface="Calibri" panose="020F0502020204030204" pitchFamily="34" charset="-122"/>
                <a:cs typeface="Calibri" panose="020F0502020204030204" pitchFamily="34" charset="-120"/>
              </a:rPr>
              <a:t>All data is simulated. The channel is a model, not a measurement campaign.</a:t>
            </a:r>
            <a:endParaRPr lang="en-US" sz="1700" dirty="0"/>
          </a:p>
          <a:p>
            <a:pPr marL="342900" indent="-342900">
              <a:spcAft>
                <a:spcPts val="1400"/>
              </a:spcAft>
              <a:buSzPct val="100000"/>
              <a:buChar char="•"/>
            </a:pPr>
            <a:r>
              <a:rPr lang="en-US" sz="1700" dirty="0">
                <a:solidFill>
                  <a:srgbClr val="444444"/>
                </a:solidFill>
                <a:latin typeface="Calibri" panose="020F0502020204030204" pitchFamily="34" charset="0"/>
                <a:ea typeface="Calibri" panose="020F0502020204030204" pitchFamily="34" charset="-122"/>
                <a:cs typeface="Calibri" panose="020F0502020204030204" pitchFamily="34" charset="-120"/>
              </a:rPr>
              <a:t>The physics terms match the free-space core of the simulator, so part of the gain comes from that agreement.</a:t>
            </a:r>
            <a:endParaRPr lang="en-US" sz="1700" dirty="0"/>
          </a:p>
          <a:p>
            <a:pPr marL="342900" indent="-342900">
              <a:spcAft>
                <a:spcPts val="1400"/>
              </a:spcAft>
              <a:buSzPct val="100000"/>
              <a:buChar char="•"/>
            </a:pPr>
            <a:r>
              <a:rPr lang="en-US" sz="1700" dirty="0">
                <a:solidFill>
                  <a:srgbClr val="444444"/>
                </a:solidFill>
                <a:latin typeface="Calibri" panose="020F0502020204030204" pitchFamily="34" charset="0"/>
                <a:ea typeface="Calibri" panose="020F0502020204030204" pitchFamily="34" charset="-122"/>
                <a:cs typeface="Calibri" panose="020F0502020204030204" pitchFamily="34" charset="-120"/>
              </a:rPr>
              <a:t>Real channels add multipath, terrain and antenna effects that need richer physics terms.</a:t>
            </a:r>
            <a:endParaRPr lang="en-US" sz="1700" dirty="0"/>
          </a:p>
          <a:p>
            <a:pPr marL="342900" indent="-342900">
              <a:spcAft>
                <a:spcPts val="1400"/>
              </a:spcAft>
              <a:buSzPct val="100000"/>
              <a:buChar char="•"/>
            </a:pPr>
            <a:r>
              <a:rPr lang="en-US" sz="1700" dirty="0">
                <a:solidFill>
                  <a:srgbClr val="444444"/>
                </a:solidFill>
                <a:latin typeface="Calibri" panose="020F0502020204030204" pitchFamily="34" charset="0"/>
                <a:ea typeface="Calibri" panose="020F0502020204030204" pitchFamily="34" charset="-122"/>
                <a:cs typeface="Calibri" panose="020F0502020204030204" pitchFamily="34" charset="-120"/>
              </a:rPr>
              <a:t>The twin is a 2-D side view with three network inputs; 3D trajectories are still to come.</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p:spPr>
        <p:txBody>
          <a:bodyPr wrap="square" lIns="0" tIns="0" rIns="0" bIns="0" rtlCol="0" anchor="ctr"/>
          <a:lstStyle/>
          <a:p>
            <a:pPr marL="0" indent="0">
              <a:buNone/>
            </a:pPr>
            <a:r>
              <a:rPr lang="en-US" sz="3200" b="1" dirty="0">
                <a:solidFill>
                  <a:srgbClr val="000000"/>
                </a:solidFill>
                <a:latin typeface="Cambria" panose="02040503050406030204" pitchFamily="34" charset="0"/>
                <a:ea typeface="Cambria" panose="02040503050406030204" pitchFamily="34" charset="-122"/>
                <a:cs typeface="Cambria" panose="02040503050406030204" pitchFamily="34" charset="-120"/>
              </a:rPr>
              <a:t>Conclusion</a:t>
            </a:r>
            <a:endParaRPr lang="en-US" sz="3200" dirty="0"/>
          </a:p>
        </p:txBody>
      </p:sp>
      <p:sp>
        <p:nvSpPr>
          <p:cNvPr id="3" name="Text 1"/>
          <p:cNvSpPr/>
          <p:nvPr/>
        </p:nvSpPr>
        <p:spPr>
          <a:xfrm>
            <a:off x="640080" y="6446520"/>
            <a:ext cx="8229600" cy="274320"/>
          </a:xfrm>
          <a:prstGeom prst="rect">
            <a:avLst/>
          </a:prstGeom>
          <a:noFill/>
        </p:spPr>
        <p:txBody>
          <a:bodyPr wrap="square" lIns="0" tIns="0" rIns="0" bIns="0" rtlCol="0" anchor="ctr"/>
          <a:lstStyle/>
          <a:p>
            <a:pPr marL="0" indent="0">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KL University, Hyderabad  |  Progress Review 2</a:t>
            </a:r>
            <a:endParaRPr lang="en-US" sz="900" dirty="0"/>
          </a:p>
        </p:txBody>
      </p:sp>
      <p:sp>
        <p:nvSpPr>
          <p:cNvPr id="4" name="Text 2"/>
          <p:cNvSpPr/>
          <p:nvPr/>
        </p:nvSpPr>
        <p:spPr>
          <a:xfrm>
            <a:off x="11064240" y="6446520"/>
            <a:ext cx="457200" cy="274320"/>
          </a:xfrm>
          <a:prstGeom prst="rect">
            <a:avLst/>
          </a:prstGeom>
          <a:noFill/>
        </p:spPr>
        <p:txBody>
          <a:bodyPr wrap="square" lIns="0" tIns="0" rIns="0" bIns="0" rtlCol="0" anchor="ctr"/>
          <a:lstStyle/>
          <a:p>
            <a:pPr marL="0" indent="0" algn="r">
              <a:buNone/>
            </a:pPr>
            <a:r>
              <a:rPr lang="en-US" sz="900" dirty="0">
                <a:solidFill>
                  <a:srgbClr val="888888"/>
                </a:solidFill>
                <a:latin typeface="Calibri" panose="020F0502020204030204" pitchFamily="34" charset="0"/>
                <a:ea typeface="Calibri" panose="020F0502020204030204" pitchFamily="34" charset="-122"/>
                <a:cs typeface="Calibri" panose="020F0502020204030204" pitchFamily="34" charset="-120"/>
              </a:rPr>
              <a:t>16</a:t>
            </a:r>
            <a:endParaRPr lang="en-US" sz="900" dirty="0"/>
          </a:p>
        </p:txBody>
      </p:sp>
      <p:sp>
        <p:nvSpPr>
          <p:cNvPr id="5" name="Text 3"/>
          <p:cNvSpPr/>
          <p:nvPr/>
        </p:nvSpPr>
        <p:spPr>
          <a:xfrm>
            <a:off x="822960" y="1600200"/>
            <a:ext cx="10515600" cy="2834640"/>
          </a:xfrm>
          <a:prstGeom prst="rect">
            <a:avLst/>
          </a:prstGeom>
          <a:noFill/>
        </p:spPr>
        <p:txBody>
          <a:bodyPr wrap="square" lIns="0" tIns="0" rIns="0" bIns="0" rtlCol="0" anchor="t"/>
          <a:lstStyle/>
          <a:p>
            <a:pPr marL="342900" indent="-342900">
              <a:spcAft>
                <a:spcPts val="1200"/>
              </a:spcAft>
              <a:buSzPct val="100000"/>
              <a:buChar char="•"/>
            </a:pPr>
            <a:r>
              <a:rPr lang="en-US" sz="1900" dirty="0">
                <a:solidFill>
                  <a:srgbClr val="444444"/>
                </a:solidFill>
                <a:latin typeface="Calibri" panose="020F0502020204030204" pitchFamily="34" charset="0"/>
                <a:ea typeface="Calibri" panose="020F0502020204030204" pitchFamily="34" charset="-122"/>
                <a:cs typeface="Calibri" panose="020F0502020204030204" pitchFamily="34" charset="-120"/>
              </a:rPr>
              <a:t>A working pipeline: simulated channel → DNN and PI-DNN → interactive Digital Twin.</a:t>
            </a:r>
            <a:endParaRPr lang="en-US" sz="1900" dirty="0"/>
          </a:p>
          <a:p>
            <a:pPr marL="342900" indent="-342900">
              <a:spcAft>
                <a:spcPts val="1200"/>
              </a:spcAft>
              <a:buSzPct val="100000"/>
              <a:buChar char="•"/>
            </a:pPr>
            <a:r>
              <a:rPr lang="en-US" sz="1900" dirty="0">
                <a:solidFill>
                  <a:srgbClr val="444444"/>
                </a:solidFill>
                <a:latin typeface="Calibri" panose="020F0502020204030204" pitchFamily="34" charset="0"/>
                <a:ea typeface="Calibri" panose="020F0502020204030204" pitchFamily="34" charset="-122"/>
                <a:cs typeface="Calibri" panose="020F0502020204030204" pitchFamily="34" charset="-120"/>
              </a:rPr>
              <a:t>On unseen UAV positions the PI-DNN reaches 0.80 dB RMSE against 15.76 dB for the conventional DNN (6-seed mean).</a:t>
            </a:r>
            <a:endParaRPr lang="en-US" sz="1900" dirty="0"/>
          </a:p>
          <a:p>
            <a:pPr marL="342900" indent="-342900">
              <a:spcAft>
                <a:spcPts val="1200"/>
              </a:spcAft>
              <a:buSzPct val="100000"/>
              <a:buChar char="•"/>
            </a:pPr>
            <a:r>
              <a:rPr lang="en-US" sz="1900" dirty="0">
                <a:solidFill>
                  <a:srgbClr val="444444"/>
                </a:solidFill>
                <a:latin typeface="Calibri" panose="020F0502020204030204" pitchFamily="34" charset="0"/>
                <a:ea typeface="Calibri" panose="020F0502020204030204" pitchFamily="34" charset="-122"/>
                <a:cs typeface="Calibri" panose="020F0502020204030204" pitchFamily="34" charset="-120"/>
              </a:rPr>
              <a:t>The twin answers what-if questions on altitude, distance, frequency and power without a flight.</a:t>
            </a:r>
            <a:endParaRPr lang="en-US" sz="1900" dirty="0"/>
          </a:p>
          <a:p>
            <a:pPr marL="342900" indent="-342900">
              <a:spcAft>
                <a:spcPts val="1200"/>
              </a:spcAft>
              <a:buSzPct val="100000"/>
              <a:buChar char="•"/>
            </a:pPr>
            <a:r>
              <a:rPr lang="en-US" sz="1900" dirty="0">
                <a:solidFill>
                  <a:srgbClr val="444444"/>
                </a:solidFill>
                <a:latin typeface="Calibri" panose="020F0502020204030204" pitchFamily="34" charset="0"/>
                <a:ea typeface="Calibri" panose="020F0502020204030204" pitchFamily="34" charset="-122"/>
                <a:cs typeface="Calibri" panose="020F0502020204030204" pitchFamily="34" charset="-120"/>
              </a:rPr>
              <a:t>Next: real measurements and richer physics to confirm these results beyond simulation.</a:t>
            </a:r>
            <a:endParaRPr lang="en-US" sz="1900" dirty="0"/>
          </a:p>
        </p:txBody>
      </p:sp>
      <p:sp>
        <p:nvSpPr>
          <p:cNvPr id="6" name="Shape 4"/>
          <p:cNvSpPr/>
          <p:nvPr/>
        </p:nvSpPr>
        <p:spPr>
          <a:xfrm>
            <a:off x="640080" y="4754880"/>
            <a:ext cx="10881360" cy="0"/>
          </a:xfrm>
          <a:prstGeom prst="line">
            <a:avLst/>
          </a:prstGeom>
          <a:noFill/>
          <a:ln w="12700">
            <a:solidFill>
              <a:srgbClr val="D0D4D9"/>
            </a:solidFill>
            <a:prstDash val="solid"/>
          </a:ln>
        </p:spPr>
      </p:sp>
      <p:sp>
        <p:nvSpPr>
          <p:cNvPr id="7" name="Text 5"/>
          <p:cNvSpPr/>
          <p:nvPr/>
        </p:nvSpPr>
        <p:spPr>
          <a:xfrm>
            <a:off x="640080" y="4983480"/>
            <a:ext cx="10881360" cy="731520"/>
          </a:xfrm>
          <a:prstGeom prst="rect">
            <a:avLst/>
          </a:prstGeom>
          <a:noFill/>
        </p:spPr>
        <p:txBody>
          <a:bodyPr wrap="square" lIns="0" tIns="0" rIns="0" bIns="0" rtlCol="0" anchor="ctr"/>
          <a:lstStyle/>
          <a:p>
            <a:pPr marL="0" indent="0">
              <a:buNone/>
            </a:pPr>
            <a:r>
              <a:rPr lang="en-US" sz="3800" b="1" dirty="0">
                <a:solidFill>
                  <a:srgbClr val="000000"/>
                </a:solidFill>
                <a:latin typeface="Cambria" panose="02040503050406030204" pitchFamily="34" charset="0"/>
                <a:ea typeface="Cambria" panose="02040503050406030204" pitchFamily="34" charset="-122"/>
                <a:cs typeface="Cambria" panose="02040503050406030204" pitchFamily="34" charset="-120"/>
              </a:rPr>
              <a:t>Thank You</a:t>
            </a:r>
            <a:endParaRPr lang="en-US" sz="3800" dirty="0"/>
          </a:p>
        </p:txBody>
      </p:sp>
      <p:sp>
        <p:nvSpPr>
          <p:cNvPr id="8" name="Text 6"/>
          <p:cNvSpPr/>
          <p:nvPr/>
        </p:nvSpPr>
        <p:spPr>
          <a:xfrm>
            <a:off x="640080" y="5715000"/>
            <a:ext cx="10881360" cy="365760"/>
          </a:xfrm>
          <a:prstGeom prst="rect">
            <a:avLst/>
          </a:prstGeom>
          <a:noFill/>
        </p:spPr>
        <p:txBody>
          <a:bodyPr wrap="square" lIns="0" tIns="0" rIns="0" bIns="0" rtlCol="0" anchor="ctr"/>
          <a:lstStyle/>
          <a:p>
            <a:pPr marL="0" indent="0">
              <a:buNone/>
            </a:pPr>
            <a:r>
              <a:rPr lang="en-US" sz="1600" dirty="0">
                <a:solidFill>
                  <a:srgbClr val="888888"/>
                </a:solidFill>
                <a:latin typeface="Calibri" panose="020F0502020204030204" pitchFamily="34" charset="0"/>
                <a:ea typeface="Calibri" panose="020F0502020204030204" pitchFamily="34" charset="-122"/>
                <a:cs typeface="Calibri" panose="020F0502020204030204" pitchFamily="34" charset="-120"/>
              </a:rPr>
              <a:t>Questions &amp; Feedback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7628</Words>
  <Application>WPS Presentation</Application>
  <PresentationFormat>On-screen Show (16:9)</PresentationFormat>
  <Paragraphs>497</Paragraphs>
  <Slides>14</Slides>
  <Notes>16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SimSun</vt:lpstr>
      <vt:lpstr>Wingdings</vt:lpstr>
      <vt:lpstr>Calibri</vt:lpstr>
      <vt:lpstr>Calibri</vt:lpstr>
      <vt:lpstr>Calibri</vt:lpstr>
      <vt:lpstr>Cambria</vt:lpstr>
      <vt:lpstr>Cambria</vt:lpstr>
      <vt:lpstr>Cambria</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Review 2 - PI-DNN for UAV-to-Ground Channel Digital Twin</dc:title>
  <dc:creator>PptxGenJS</dc:creator>
  <dc:subject>PptxGenJS Presentation</dc:subject>
  <cp:lastModifiedBy>sathu</cp:lastModifiedBy>
  <cp:revision>2</cp:revision>
  <dcterms:created xsi:type="dcterms:W3CDTF">2026-10-15T03:08:00Z</dcterms:created>
  <dcterms:modified xsi:type="dcterms:W3CDTF">2026-10-15T04:59:22Z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288AF3D839DE4C10833AE6EEC20E0B6B_12</vt:lpwstr>
  </property>
</Properties>
</file>